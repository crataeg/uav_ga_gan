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files_uploaded_in_conversation: UAV_GA.py; gan_uav_pipeline.py; compare_random_ga_gan.py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UAV_GA.py: calculate_link_degradation() combines comm_deg and speed_eff_deg with metric_weights (see function body).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UAV_GA.py: calculate_power_margin_components() defines M, SINR, R, Outage; calculate_comm_degradation() implements margin sigmoid mapping.
- UAV_GA.py: calculate_cdi_components() defines D_link, I and CDI; calculate_comm_degradation() maps CDI with 1-exp(-CDI/scale).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UAV_GA.py: calculate_rx_power_dbm() defines P_rx template; calculate_interference_power_mw() sums interferers; _noise_power_mw() defines noise; power margin computation builds P_IN, M, SINR, R, Outage.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UAV_GA.py: calculate_rx_power_dbm() documents P_rx template with PL_mean/extra_loss/fading/activity.
- UAV_GA.py: calculate_interference_power_mw() computes effective_power_dbm = source.power - path_loss_db and multiplies spectral coupling, fading gain and activity; then sums in mW.
- UAV_GA.py: calculate_los_probability() describes sigmoid vs product LoS probability options.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UAV_GA.py: calculate_speed_energy_efficiency_degradation() implements P(V) (blade profile + induced + parasite) and D_speed = 1 - P(0)/P(V).
- UAV_GA.py: calculate_link_degradation() combines D_comm and D_speed with metric_weights.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UAV_GA.py: analyze_scenario_metrics() enumerates and fills metrics such as avg_margin_db, outage_prob, avg_rate_mbps, avg_sinr_db, avg_comm_deg, avg_speed_deg.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UAV_GA.py: evalVars() calls calculate_link_degradation(..., drone_speed_mps=scenario['drone_speeds'][drone_idx]) and averages over links.
- UAV_GA.py: calculate_link_degradation() combines D_comm and D_speed.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gan_uav_pipeline.py: defines run_ga_samples(), scale_to_unit()/scale_from_unit(), postprocess_x(), train_gan(), generate_gan_samples().
- compare_random_ga_gan.py: defines random_samples() and compares GA/GAN/Random, generating plots and summaries.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UAV_GA.py: user_params initialization includes margin_threshold_db, margin_slope_db, CDI parameters and weights.
- UAV_GA.py: calculate_link_degradation() uses metric_weights keys power_intensity_change and speed_energy_efficiency.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UAV_GA.py: analyze_scenario_metrics() already collects P_rx, PL_db, P_LoS, I_y, margin, SINR, rate and outage.
- UAV_GA.py: calculate_energy_efficiency_metrics() computes EE_bpj (bit/J) based on rate and propulsion power.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4.svg"/><Relationship Id="rId7" Type="http://schemas.openxmlformats.org/officeDocument/2006/relationships/tags" Target="../tags/tag5.xml"/><Relationship Id="rId6" Type="http://schemas.openxmlformats.org/officeDocument/2006/relationships/image" Target="../media/image3.svg"/><Relationship Id="rId5" Type="http://schemas.openxmlformats.org/officeDocument/2006/relationships/tags" Target="../tags/tag4.xml"/><Relationship Id="rId4" Type="http://schemas.openxmlformats.org/officeDocument/2006/relationships/image" Target="../media/image2.svg"/><Relationship Id="rId3" Type="http://schemas.openxmlformats.org/officeDocument/2006/relationships/tags" Target="../tags/tag3.xml"/><Relationship Id="rId24" Type="http://schemas.openxmlformats.org/officeDocument/2006/relationships/notesSlide" Target="../notesSlides/notesSlide3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14.xml"/><Relationship Id="rId21" Type="http://schemas.openxmlformats.org/officeDocument/2006/relationships/image" Target="../media/image9.svg"/><Relationship Id="rId20" Type="http://schemas.openxmlformats.org/officeDocument/2006/relationships/tags" Target="../tags/tag13.xml"/><Relationship Id="rId2" Type="http://schemas.openxmlformats.org/officeDocument/2006/relationships/tags" Target="../tags/tag2.xml"/><Relationship Id="rId19" Type="http://schemas.openxmlformats.org/officeDocument/2006/relationships/image" Target="../media/image8.svg"/><Relationship Id="rId18" Type="http://schemas.openxmlformats.org/officeDocument/2006/relationships/tags" Target="../tags/tag12.xml"/><Relationship Id="rId17" Type="http://schemas.openxmlformats.org/officeDocument/2006/relationships/image" Target="../media/image7.svg"/><Relationship Id="rId16" Type="http://schemas.openxmlformats.org/officeDocument/2006/relationships/tags" Target="../tags/tag11.xml"/><Relationship Id="rId15" Type="http://schemas.openxmlformats.org/officeDocument/2006/relationships/image" Target="../media/image6.svg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5.sv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" name="Text 2"/>
          <p:cNvSpPr/>
          <p:nvPr/>
        </p:nvSpPr>
        <p:spPr>
          <a:xfrm>
            <a:off x="868680" y="219456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无人机通信劣化评估与优化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2971800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极简报告版（以 UAV_GA + GAN Pipeline 为主）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3703320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输入：场景/干扰源/轨迹速度｜输出：0–1 退化分数 + 诊断指标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635508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文件依据：UAV_GA.py、gan_uav_pipeline.py、compare_random_ga_gan.py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总体评分：0–1 的“退化”分数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definition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71323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123444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05256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234440"/>
            <a:ext cx="11018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417320"/>
            <a:ext cx="10424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链接退化（link_degradation）由两部分加权平均组成：</a:t>
            </a:r>
            <a:endParaRPr lang="en-US" sz="1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914400" y="1874520"/>
            <a:ext cx="1024128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2743200"/>
            <a:ext cx="10241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D_comm：通信质量退化（由 SINR / 路损 / 干扰计算）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D_speed：速度导致的能效退化（由推进功率 P(V) 计算）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4360" y="3749040"/>
            <a:ext cx="1101852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3931920"/>
            <a:ext cx="10424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直观解释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4400" y="4343400"/>
            <a:ext cx="10241280" cy="1783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3520" indent="-22352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D_comm 关注“信号能否压过干扰+噪声”（Margin / SINR / 速率 / Outage）</a:t>
            </a:r>
            <a:endParaRPr lang="en-US" sz="1600" dirty="0"/>
          </a:p>
          <a:p>
            <a:pPr marL="223520" indent="-22352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D_speed 关注“为了达到该状态需要付出多少推进功率”（相对悬停的额外功耗）</a:t>
            </a:r>
            <a:endParaRPr lang="en-US" sz="1600" dirty="0"/>
          </a:p>
          <a:p>
            <a:pPr marL="223520" indent="-22352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最终分数越接近 1：越“劣化”（越差）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通信退化 D_comm：两种模型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D_comm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71323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123444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05256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</a:t>
            </a:r>
            <a:endParaRPr lang="en-US" sz="11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94360" y="1234440"/>
            <a:ext cx="53949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914400" y="141732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A) Margin（功率裕量）模型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1847088"/>
            <a:ext cx="4846320" cy="50292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2377440"/>
            <a:ext cx="4846320" cy="50292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2907792"/>
            <a:ext cx="4846320" cy="502920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" y="3529584"/>
            <a:ext cx="4846320" cy="548640"/>
          </a:xfrm>
          <a:prstGeom prst="rect">
            <a:avLst/>
          </a:prstGeom>
        </p:spPr>
      </p:pic>
      <p:sp>
        <p:nvSpPr>
          <p:cNvPr id="14" name="Text 8"/>
          <p:cNvSpPr/>
          <p:nvPr>
            <p:custDataLst>
              <p:tags r:id="rId11"/>
            </p:custDataLst>
          </p:nvPr>
        </p:nvSpPr>
        <p:spPr>
          <a:xfrm>
            <a:off x="914400" y="4206240"/>
            <a:ext cx="4846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特点：直接可解释（信号 vs 干扰+噪声）。</a:t>
            </a:r>
            <a:endParaRPr lang="en-US" sz="1300" dirty="0"/>
          </a:p>
        </p:txBody>
      </p:sp>
      <p:sp>
        <p:nvSpPr>
          <p:cNvPr id="15" name="Shape 9"/>
          <p:cNvSpPr/>
          <p:nvPr>
            <p:custDataLst>
              <p:tags r:id="rId12"/>
            </p:custDataLst>
          </p:nvPr>
        </p:nvSpPr>
        <p:spPr>
          <a:xfrm>
            <a:off x="6217920" y="1234440"/>
            <a:ext cx="53949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>
            <p:custDataLst>
              <p:tags r:id="rId13"/>
            </p:custDataLst>
          </p:nvPr>
        </p:nvSpPr>
        <p:spPr>
          <a:xfrm>
            <a:off x="6537960" y="141732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B) CDI（统一退化指数）模型</a:t>
            </a:r>
            <a:endParaRPr lang="en-US" sz="1600" dirty="0"/>
          </a:p>
        </p:txBody>
      </p:sp>
      <p:pic>
        <p:nvPicPr>
          <p:cNvPr id="17" name="Image 4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37960" y="1901952"/>
            <a:ext cx="4846320" cy="548640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37960" y="2560320"/>
            <a:ext cx="4846320" cy="548640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37960" y="3218688"/>
            <a:ext cx="4846320" cy="548640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537960" y="3877056"/>
            <a:ext cx="4846320" cy="548640"/>
          </a:xfrm>
          <a:prstGeom prst="rect">
            <a:avLst/>
          </a:prstGeom>
        </p:spPr>
      </p:pic>
      <p:sp>
        <p:nvSpPr>
          <p:cNvPr id="21" name="Text 11"/>
          <p:cNvSpPr/>
          <p:nvPr>
            <p:custDataLst>
              <p:tags r:id="rId22"/>
            </p:custDataLst>
          </p:nvPr>
        </p:nvSpPr>
        <p:spPr>
          <a:xfrm>
            <a:off x="6537960" y="4526280"/>
            <a:ext cx="4846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特点：不强依赖 SINR 的“比值口径”，更像工程评分表。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代码如何计算 SINR（一步一步）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SINR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71323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123444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05256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325880"/>
            <a:ext cx="3611880" cy="9601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1490472"/>
            <a:ext cx="3154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计算接收信号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P_rx (dBm)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325880"/>
            <a:ext cx="3611880" cy="960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57800" y="1490472"/>
            <a:ext cx="3154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计算干扰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 = Σ I_k (mW)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606040"/>
            <a:ext cx="3611880" cy="960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2770632"/>
            <a:ext cx="3154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计算噪声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 = N0·B·F (mW)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2606040"/>
            <a:ext cx="3611880" cy="960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57800" y="2770632"/>
            <a:ext cx="3154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合成背景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P_IN = I+N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886200"/>
            <a:ext cx="3611880" cy="960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4050792"/>
            <a:ext cx="3154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裕量与 SINR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 = P_rx - P_IN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SINR=10^(M/10)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5212080"/>
            <a:ext cx="10835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5367528"/>
            <a:ext cx="10332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关键等式（与代码字段一一对应）</a:t>
            </a:r>
            <a:endParaRPr lang="en-US" sz="14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1051560" y="5687568"/>
            <a:ext cx="1033272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功率损耗（路径损耗）如何进入退化评分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 loss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71323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123444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05256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234440"/>
            <a:ext cx="110185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417320"/>
            <a:ext cx="10424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A) 信号端：P_rx 由“发射功率 − 平均路径损耗 − 额外损耗 + 衰落/占空比”得到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914400" y="1874520"/>
            <a:ext cx="10424160" cy="685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2651760"/>
            <a:ext cx="10424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其中 PL_mean 由 LoS/NLoS 组合路径损耗计算，并可返回 P_LoS 便于诊断。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4360" y="3886200"/>
            <a:ext cx="11018520" cy="2578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4069080"/>
            <a:ext cx="10424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B) 干扰端：每个干扰源先做“功率 − 路损”，再乘频谱耦合/衰落/活跃度并在线性域累加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4526280"/>
            <a:ext cx="10424160" cy="685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4400" y="5257800"/>
            <a:ext cx="1042416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81610" indent="-18161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PL_k：干扰源到无人机的路径损耗（可含遮挡/超出覆盖半径的额外衰减）</a:t>
            </a:r>
            <a:endParaRPr lang="en-US" sz="1300" dirty="0"/>
          </a:p>
          <a:p>
            <a:pPr marL="181610" indent="-18161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C_spec：频谱耦合系数（tx 频点与 rx 带宽不匹配时降低有效干扰）</a:t>
            </a:r>
            <a:endParaRPr lang="en-US" sz="1300" dirty="0"/>
          </a:p>
          <a:p>
            <a:pPr marL="181610" indent="-18161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h_k：小尺度衰落（可选），a_k：占空比/活跃度（activity）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速度如何进入退化评分（能效退化项 D_speed）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 → energy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71323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123444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05256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234440"/>
            <a:ext cx="110185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417320"/>
            <a:ext cx="10424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代码定义：以“悬停功率 P(0)”为参考，速度越快 → 推进功率 P(V) 越大 → 能效越差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14400" y="1920240"/>
            <a:ext cx="10424160" cy="91440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914400" y="2971800"/>
            <a:ext cx="1042416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3794760"/>
            <a:ext cx="10424160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P(V) 由三部分组成：叶片剖面功率（~V²）、诱导功率（非线性）、寄生功率（~V³）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D_speed 与 D_comm 一起进入最终链接退化：D_link = 加权平均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诊断输出：不仅给“分数”，还给可解释的指标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Diagnostics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71323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123444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05256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234440"/>
            <a:ext cx="110185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417320"/>
            <a:ext cx="10424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analyze_scenario_metrics() 汇总（用于报告/可视化）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10424160" cy="3063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avg_comm_deg：通信退化平均值（按 margin/CDI 模型）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avg_speed_deg：速度能效退化平均值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avg_total_deg：最终退化平均值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avg_margin_db / avg_sinr_db / avg_rate_mbps：把“退化”还原为可理解物理量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outage_prob：门限中断概率（基于 M_db vs threshold）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avg_d_link_db / avg_cdi / avg_interference_dbm：CDI 相关诊断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5257800"/>
            <a:ext cx="10424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394960"/>
            <a:ext cx="104241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这些指标用于：调参（threshold/weights）、定位问题（是路损导致还是干扰导致）、以及对比 GA/GAN/Random。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 GA 在优化什么：把“每条链路退化”求平均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 objective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71323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123444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05256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234440"/>
            <a:ext cx="1101852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417320"/>
            <a:ext cx="10424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evalVars() 中：对每个候选解（染色体）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10424160" cy="1783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解码得到：无人机位置/高度、速度、干扰源参数（视配置而定）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遍历所有 A2G 链路（station → drone）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对每条链路计算 calculate_link_degradation(..., drone_speed_mps=...)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适应度 f = 所有链路退化的平均值（或按配置变换）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4160520"/>
            <a:ext cx="11018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343400"/>
            <a:ext cx="10424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为什么这样定义适应度？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1042416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直接把“通信退化（物理量）”与“速度代价（工程可飞性）”统一到同一尺度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便于 GA 在混合变量空间（连续+离散）做全局搜索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 GAN 辅助：用 GA 样本训练生成器，加速产生候选解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71323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123444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05256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2468880" cy="9601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6968" y="1572768"/>
            <a:ext cx="20665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GA 采样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6968" y="1865376"/>
            <a:ext cx="20665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run_ga_samples()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943100"/>
            <a:ext cx="32004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74720" y="1463040"/>
            <a:ext cx="2468880" cy="960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75888" y="1572768"/>
            <a:ext cx="20665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归一化/离散修复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75888" y="1865376"/>
            <a:ext cx="20665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scale_to_unit()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postprocess_x()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943100"/>
            <a:ext cx="32004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63640" y="1463040"/>
            <a:ext cx="2468880" cy="960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64808" y="1572768"/>
            <a:ext cx="20665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 GAN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64808" y="1865376"/>
            <a:ext cx="20665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train_gan()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(MLP Gen/Dis)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32520" y="1943100"/>
            <a:ext cx="32004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52560" y="1463040"/>
            <a:ext cx="2468880" cy="96012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53728" y="1572768"/>
            <a:ext cx="20665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生成候选解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53728" y="1865376"/>
            <a:ext cx="20665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generate_gan_samples()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" y="2926080"/>
            <a:ext cx="110185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3108960"/>
            <a:ext cx="10424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对比脚本：GA vs GAN vs Random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566160"/>
            <a:ext cx="10424160" cy="1508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compare_random_ga_gan.py 统一评估 3 类候选集（GA / GAN / Random）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输出：指标汇总（mean/std/quantiles）+ 可视化（柱状图/散点）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注意：本报告不展示具体数值结果（需运行脚本生成）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9. 关键可调参数（影响退化分数的“旋钮”）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knobs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71323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123444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05256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234440"/>
            <a:ext cx="110185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41732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通信模型相关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5120640" cy="2057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81610" indent="-18161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margin_threshold_db：门限（决定“何时判差”）</a:t>
            </a:r>
            <a:endParaRPr lang="en-US" sz="1300" dirty="0"/>
          </a:p>
          <a:p>
            <a:pPr marL="181610" indent="-18161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margin_slope_db：sigmoid 斜率（决定过渡快慢）</a:t>
            </a:r>
            <a:endParaRPr lang="en-US" sz="1300" dirty="0"/>
          </a:p>
          <a:p>
            <a:pPr marL="181610" indent="-18161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bandwidth_hz / thermal_noise_dbm_hz / noise_figure_db：噪声水平</a:t>
            </a:r>
            <a:endParaRPr lang="en-US" sz="1300" dirty="0"/>
          </a:p>
          <a:p>
            <a:pPr marL="181610" indent="-18161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cdi_pl_max_db、cdi_w_link、cdi_w_int、cdi_int_ref_mw、cdi_scale_db：CDI 口径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41732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权重/融合相关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1828800"/>
            <a:ext cx="5212080" cy="1874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81610" indent="-18161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metric_weights[power_intensity_change]：通信退化权重</a:t>
            </a:r>
            <a:endParaRPr lang="en-US" sz="1300" dirty="0"/>
          </a:p>
          <a:p>
            <a:pPr marL="181610" indent="-18161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metric_weights[speed_energy_efficiency]：速度能效权重</a:t>
            </a:r>
            <a:endParaRPr lang="en-US" sz="1300" dirty="0"/>
          </a:p>
          <a:p>
            <a:pPr marL="181610" indent="-18161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u2u_enabled / u2u_pairing：是否纳入 U2U 链路与配对方式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251960"/>
            <a:ext cx="10424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07408"/>
            <a:ext cx="104241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建议实践顺序：先固定模型口径（margin 或 CDI）→ 再调门限/斜率 → 最后调权重与速度项比例。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10. 下一步（让指标更“论文级”&amp; 更可比）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71323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123444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05256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234440"/>
            <a:ext cx="110185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417320"/>
            <a:ext cx="10424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可立刻落地的增强点（不改框架，只增强可解释性）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10424160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D_comm 拆分输出：信号侧（P_rx/PL/P_LoS）与干扰侧（I_y/频谱耦合/活动度）单独统计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把速度项从“相对悬停功率”扩展为 bit/J（已在代码中计算 EE_bpj，可作为第二目标或约束）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 GA/GAN/Random 时统一：相同场景、相同 seed、相同评估函数与阈值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报告层面：每次实验固定一个“口径版本号”（margin-v1 / cdi-v2 …）</a:t>
            </a:r>
            <a:endParaRPr lang="en-US" sz="1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2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3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4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5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6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7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8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9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10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11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12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13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14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2762</Words>
  <Application>WPS 演示</Application>
  <PresentationFormat>On-screen Show (16:9)</PresentationFormat>
  <Paragraphs>189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微软雅黑</vt:lpstr>
      <vt:lpstr>Calibri</vt:lpstr>
      <vt:lpstr>Calibri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eyesitchell</dc:creator>
  <dc:subject>PptxGenJS Presentation</dc:subject>
  <cp:lastModifiedBy>morty</cp:lastModifiedBy>
  <cp:revision>3</cp:revision>
  <dcterms:created xsi:type="dcterms:W3CDTF">2026-01-03T13:23:00Z</dcterms:created>
  <dcterms:modified xsi:type="dcterms:W3CDTF">2026-02-12T07:12:42Z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44561961956D41BF848B8CE64C03E54D_13</vt:lpwstr>
  </property>
  <property fmtid="{D5CDD505-2E9C-101B-9397-08002B2CF9AE}" pid="3" name="KSOProductBuildVer">
    <vt:lpwstr>2052-12.1.0.25222</vt:lpwstr>
  </property>
</Properties>
</file>
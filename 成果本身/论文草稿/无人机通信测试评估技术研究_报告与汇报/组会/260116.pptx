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486" r:id="rId3"/>
    <p:sldId id="510" r:id="rId5"/>
    <p:sldId id="511" r:id="rId6"/>
    <p:sldId id="512" r:id="rId7"/>
    <p:sldId id="515" r:id="rId8"/>
    <p:sldId id="516" r:id="rId9"/>
    <p:sldId id="513" r:id="rId10"/>
    <p:sldId id="514" r:id="rId11"/>
    <p:sldId id="498" r:id="rId12"/>
    <p:sldId id="275" r:id="rId13"/>
  </p:sldIdLst>
  <p:sldSz cx="18288000" cy="10287000"/>
  <p:notesSz cx="6858000" cy="9144000"/>
  <p:embeddedFontLst>
    <p:embeddedFont>
      <p:font typeface="微软雅黑" panose="020B0503020204020204" pitchFamily="34" charset="-122"/>
      <p:regular r:id="rId17"/>
    </p:embeddedFont>
    <p:embeddedFont>
      <p:font typeface="Calibri" panose="020F0502020204030204" charset="0"/>
      <p:regular r:id="rId18"/>
      <p:bold r:id="rId19"/>
      <p:italic r:id="rId20"/>
      <p:boldItalic r:id="rId21"/>
    </p:embeddedFont>
    <p:embeddedFont>
      <p:font typeface="等线" panose="02010600030101010101" charset="-122"/>
      <p:regular r:id="rId22"/>
    </p:embeddedFont>
  </p:embeddedFontLst>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7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2" d="100"/>
          <a:sy n="52" d="100"/>
        </p:scale>
        <p:origin x="850" y="53"/>
      </p:cViewPr>
      <p:guideLst>
        <p:guide orient="horz" pos="2186"/>
        <p:guide pos="278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9F235E-7EE9-4DB1-922B-14E64B18EBC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06FA8-2AFA-4E9E-9315-7409FC52E0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基于假设分布裂纹扩展行为的重载铁路铸钢联轴器的剩余使用寿命预测</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r>
              <a:rPr lang="zh-CN" altLang="en-US" b="0" i="0" dirty="0">
                <a:solidFill>
                  <a:srgbClr val="000000"/>
                </a:solidFill>
                <a:effectLst/>
                <a:latin typeface="微软雅黑" panose="020B0503020204020204" pitchFamily="34" charset="-122"/>
                <a:ea typeface="微软雅黑" panose="020B0503020204020204" pitchFamily="34" charset="-122"/>
              </a:rPr>
              <a:t>目前对轨道车辆关键结构完整性的研究主要集中在设计阶段，需要一种有效的服务状态评估方法。本文提出了一个预测在役结构的剩余使用寿命（</a:t>
            </a:r>
            <a:r>
              <a:rPr lang="en-US" altLang="zh-CN" b="0" i="0" dirty="0">
                <a:solidFill>
                  <a:srgbClr val="000000"/>
                </a:solidFill>
                <a:effectLst/>
                <a:latin typeface="微软雅黑" panose="020B0503020204020204" pitchFamily="34" charset="-122"/>
                <a:ea typeface="微软雅黑" panose="020B0503020204020204" pitchFamily="34" charset="-122"/>
              </a:rPr>
              <a:t>RUL</a:t>
            </a:r>
            <a:r>
              <a:rPr lang="zh-CN" altLang="en-US" b="0" i="0" dirty="0">
                <a:solidFill>
                  <a:srgbClr val="000000"/>
                </a:solidFill>
                <a:effectLst/>
                <a:latin typeface="微软雅黑" panose="020B0503020204020204" pitchFamily="34" charset="-122"/>
                <a:ea typeface="微软雅黑" panose="020B0503020204020204" pitchFamily="34" charset="-122"/>
              </a:rPr>
              <a:t>）的框架。</a:t>
            </a:r>
            <a:endParaRPr lang="zh-CN" altLang="en-US" dirty="0"/>
          </a:p>
        </p:txBody>
      </p:sp>
      <p:sp>
        <p:nvSpPr>
          <p:cNvPr id="4" name="灯片编号占位符 3"/>
          <p:cNvSpPr>
            <a:spLocks noGrp="1"/>
          </p:cNvSpPr>
          <p:nvPr>
            <p:ph type="sldNum" sz="quarter" idx="5"/>
          </p:nvPr>
        </p:nvSpPr>
        <p:spPr/>
        <p:txBody>
          <a:bodyPr/>
          <a:lstStyle/>
          <a:p>
            <a:fld id="{08206FA8-2AFA-4E9E-9315-7409FC52E0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792"/>
        </a:solidFill>
        <a:effectLst/>
      </p:bgPr>
    </p:bg>
    <p:spTree>
      <p:nvGrpSpPr>
        <p:cNvPr id="1" name=""/>
        <p:cNvGrpSpPr/>
        <p:nvPr/>
      </p:nvGrpSpPr>
      <p:grpSpPr>
        <a:xfrm>
          <a:off x="0" y="0"/>
          <a:ext cx="0" cy="0"/>
          <a:chOff x="0" y="0"/>
          <a:chExt cx="0" cy="0"/>
        </a:xfrm>
      </p:grpSpPr>
      <p:grpSp>
        <p:nvGrpSpPr>
          <p:cNvPr id="2" name="Group 2"/>
          <p:cNvGrpSpPr/>
          <p:nvPr/>
        </p:nvGrpSpPr>
        <p:grpSpPr>
          <a:xfrm>
            <a:off x="9210" y="9041522"/>
            <a:ext cx="18252596" cy="1267599"/>
            <a:chOff x="0" y="0"/>
            <a:chExt cx="24336794" cy="1690132"/>
          </a:xfrm>
        </p:grpSpPr>
        <p:sp>
          <p:nvSpPr>
            <p:cNvPr id="3" name="Freeform 3"/>
            <p:cNvSpPr/>
            <p:nvPr/>
          </p:nvSpPr>
          <p:spPr>
            <a:xfrm>
              <a:off x="0" y="0"/>
              <a:ext cx="24336756" cy="1690116"/>
            </a:xfrm>
            <a:custGeom>
              <a:avLst/>
              <a:gdLst/>
              <a:ahLst/>
              <a:cxnLst/>
              <a:rect l="l" t="t" r="r" b="b"/>
              <a:pathLst>
                <a:path w="24336756" h="1690116">
                  <a:moveTo>
                    <a:pt x="0" y="0"/>
                  </a:moveTo>
                  <a:lnTo>
                    <a:pt x="24336756" y="0"/>
                  </a:lnTo>
                  <a:lnTo>
                    <a:pt x="24336756" y="1690116"/>
                  </a:lnTo>
                  <a:lnTo>
                    <a:pt x="0" y="1690116"/>
                  </a:lnTo>
                  <a:close/>
                </a:path>
              </a:pathLst>
            </a:custGeom>
            <a:solidFill>
              <a:srgbClr val="FFFFFF"/>
            </a:solidFill>
          </p:spPr>
        </p:sp>
      </p:grpSp>
      <p:grpSp>
        <p:nvGrpSpPr>
          <p:cNvPr id="4" name="Group 4"/>
          <p:cNvGrpSpPr/>
          <p:nvPr/>
        </p:nvGrpSpPr>
        <p:grpSpPr>
          <a:xfrm>
            <a:off x="0" y="9485950"/>
            <a:ext cx="18278788" cy="801050"/>
            <a:chOff x="0" y="0"/>
            <a:chExt cx="24371718" cy="1068066"/>
          </a:xfrm>
        </p:grpSpPr>
        <p:sp>
          <p:nvSpPr>
            <p:cNvPr id="5" name="Freeform 5"/>
            <p:cNvSpPr/>
            <p:nvPr/>
          </p:nvSpPr>
          <p:spPr>
            <a:xfrm>
              <a:off x="0" y="0"/>
              <a:ext cx="24371681" cy="1068070"/>
            </a:xfrm>
            <a:custGeom>
              <a:avLst/>
              <a:gdLst/>
              <a:ahLst/>
              <a:cxnLst/>
              <a:rect l="l" t="t" r="r" b="b"/>
              <a:pathLst>
                <a:path w="24371681" h="1068070">
                  <a:moveTo>
                    <a:pt x="0" y="0"/>
                  </a:moveTo>
                  <a:lnTo>
                    <a:pt x="24371681" y="0"/>
                  </a:lnTo>
                  <a:lnTo>
                    <a:pt x="24371681" y="1068070"/>
                  </a:lnTo>
                  <a:lnTo>
                    <a:pt x="0" y="1068070"/>
                  </a:lnTo>
                  <a:close/>
                </a:path>
              </a:pathLst>
            </a:custGeom>
            <a:solidFill>
              <a:srgbClr val="001C54"/>
            </a:solidFill>
          </p:spPr>
        </p:sp>
      </p:grpSp>
      <p:grpSp>
        <p:nvGrpSpPr>
          <p:cNvPr id="6" name="Group 6"/>
          <p:cNvGrpSpPr/>
          <p:nvPr/>
        </p:nvGrpSpPr>
        <p:grpSpPr>
          <a:xfrm>
            <a:off x="13383444" y="2289983"/>
            <a:ext cx="4610101" cy="4486983"/>
            <a:chOff x="0" y="0"/>
            <a:chExt cx="8186122" cy="8186122"/>
          </a:xfrm>
        </p:grpSpPr>
        <p:sp>
          <p:nvSpPr>
            <p:cNvPr id="7" name="Freeform 7"/>
            <p:cNvSpPr/>
            <p:nvPr/>
          </p:nvSpPr>
          <p:spPr>
            <a:xfrm>
              <a:off x="127000" y="127000"/>
              <a:ext cx="7932166" cy="7932166"/>
            </a:xfrm>
            <a:custGeom>
              <a:avLst/>
              <a:gdLst/>
              <a:ahLst/>
              <a:cxnLst/>
              <a:rect l="l" t="t" r="r" b="b"/>
              <a:pathLst>
                <a:path w="7932166" h="7932166">
                  <a:moveTo>
                    <a:pt x="0" y="3966083"/>
                  </a:moveTo>
                  <a:cubicBezTo>
                    <a:pt x="0" y="1775714"/>
                    <a:pt x="1775714" y="0"/>
                    <a:pt x="3966083" y="0"/>
                  </a:cubicBezTo>
                  <a:cubicBezTo>
                    <a:pt x="6156452" y="0"/>
                    <a:pt x="7932166" y="1775714"/>
                    <a:pt x="7932166" y="3966083"/>
                  </a:cubicBezTo>
                  <a:cubicBezTo>
                    <a:pt x="7932166" y="6156452"/>
                    <a:pt x="6156452" y="7932166"/>
                    <a:pt x="3966083" y="7932166"/>
                  </a:cubicBezTo>
                  <a:cubicBezTo>
                    <a:pt x="1775714" y="7932166"/>
                    <a:pt x="0" y="6156452"/>
                    <a:pt x="0" y="3966083"/>
                  </a:cubicBezTo>
                  <a:close/>
                </a:path>
              </a:pathLst>
            </a:custGeom>
            <a:blipFill>
              <a:blip r:embed="rId1"/>
              <a:stretch>
                <a:fillRect l="-27740" r="-8450"/>
              </a:stretch>
            </a:blipFill>
          </p:spPr>
        </p:sp>
        <p:sp>
          <p:nvSpPr>
            <p:cNvPr id="8" name="Freeform 8"/>
            <p:cNvSpPr/>
            <p:nvPr/>
          </p:nvSpPr>
          <p:spPr>
            <a:xfrm>
              <a:off x="0" y="0"/>
              <a:ext cx="8186166" cy="8186166"/>
            </a:xfrm>
            <a:custGeom>
              <a:avLst/>
              <a:gdLst/>
              <a:ahLst/>
              <a:cxnLst/>
              <a:rect l="l" t="t" r="r" b="b"/>
              <a:pathLst>
                <a:path w="8186166" h="8186166">
                  <a:moveTo>
                    <a:pt x="0" y="4093083"/>
                  </a:moveTo>
                  <a:cubicBezTo>
                    <a:pt x="0" y="1832483"/>
                    <a:pt x="1832483" y="0"/>
                    <a:pt x="4093083" y="0"/>
                  </a:cubicBezTo>
                  <a:lnTo>
                    <a:pt x="4093083" y="127000"/>
                  </a:lnTo>
                  <a:lnTo>
                    <a:pt x="4093083" y="0"/>
                  </a:lnTo>
                  <a:cubicBezTo>
                    <a:pt x="6353556" y="0"/>
                    <a:pt x="8186166" y="1832483"/>
                    <a:pt x="8186166" y="4093083"/>
                  </a:cubicBezTo>
                  <a:lnTo>
                    <a:pt x="8059166" y="4093083"/>
                  </a:lnTo>
                  <a:lnTo>
                    <a:pt x="8186166" y="4093083"/>
                  </a:lnTo>
                  <a:cubicBezTo>
                    <a:pt x="8186166" y="6353556"/>
                    <a:pt x="6353683" y="8186166"/>
                    <a:pt x="4093083" y="8186166"/>
                  </a:cubicBezTo>
                  <a:lnTo>
                    <a:pt x="4093083" y="8059166"/>
                  </a:lnTo>
                  <a:lnTo>
                    <a:pt x="4093083" y="8186166"/>
                  </a:lnTo>
                  <a:cubicBezTo>
                    <a:pt x="1832483" y="8186166"/>
                    <a:pt x="0" y="6353556"/>
                    <a:pt x="0" y="4093083"/>
                  </a:cubicBezTo>
                  <a:lnTo>
                    <a:pt x="127000" y="4093083"/>
                  </a:lnTo>
                  <a:lnTo>
                    <a:pt x="254000" y="4093083"/>
                  </a:lnTo>
                  <a:lnTo>
                    <a:pt x="127000" y="4093083"/>
                  </a:lnTo>
                  <a:lnTo>
                    <a:pt x="0" y="4093083"/>
                  </a:lnTo>
                  <a:moveTo>
                    <a:pt x="254000" y="4093083"/>
                  </a:moveTo>
                  <a:cubicBezTo>
                    <a:pt x="254000" y="4163187"/>
                    <a:pt x="197104" y="4220083"/>
                    <a:pt x="127000" y="4220083"/>
                  </a:cubicBezTo>
                  <a:cubicBezTo>
                    <a:pt x="56896" y="4220083"/>
                    <a:pt x="0" y="4163187"/>
                    <a:pt x="0" y="4093083"/>
                  </a:cubicBezTo>
                  <a:cubicBezTo>
                    <a:pt x="0" y="4022979"/>
                    <a:pt x="56896" y="3966083"/>
                    <a:pt x="127000" y="3966083"/>
                  </a:cubicBezTo>
                  <a:cubicBezTo>
                    <a:pt x="197104" y="3966083"/>
                    <a:pt x="254000" y="4022979"/>
                    <a:pt x="254000" y="4093083"/>
                  </a:cubicBezTo>
                  <a:cubicBezTo>
                    <a:pt x="254000" y="6213348"/>
                    <a:pt x="1972818" y="7932166"/>
                    <a:pt x="4093083" y="7932166"/>
                  </a:cubicBezTo>
                  <a:cubicBezTo>
                    <a:pt x="6213348" y="7932166"/>
                    <a:pt x="7932166" y="6213348"/>
                    <a:pt x="7932166" y="4093083"/>
                  </a:cubicBezTo>
                  <a:cubicBezTo>
                    <a:pt x="7932166" y="1972818"/>
                    <a:pt x="6213348" y="254000"/>
                    <a:pt x="4093083" y="254000"/>
                  </a:cubicBezTo>
                  <a:lnTo>
                    <a:pt x="4093083" y="127000"/>
                  </a:lnTo>
                  <a:lnTo>
                    <a:pt x="4093083" y="254000"/>
                  </a:lnTo>
                  <a:cubicBezTo>
                    <a:pt x="1972818" y="254000"/>
                    <a:pt x="254000" y="1972818"/>
                    <a:pt x="254000" y="4093083"/>
                  </a:cubicBezTo>
                  <a:close/>
                </a:path>
              </a:pathLst>
            </a:custGeom>
            <a:solidFill>
              <a:srgbClr val="FFFFFF"/>
            </a:solidFill>
          </p:spPr>
        </p:sp>
      </p:grpSp>
      <p:grpSp>
        <p:nvGrpSpPr>
          <p:cNvPr id="10" name="Group 10"/>
          <p:cNvGrpSpPr/>
          <p:nvPr/>
        </p:nvGrpSpPr>
        <p:grpSpPr>
          <a:xfrm>
            <a:off x="999098" y="7544471"/>
            <a:ext cx="4578716" cy="671988"/>
            <a:chOff x="-55" y="-66971"/>
            <a:chExt cx="4201360" cy="895985"/>
          </a:xfrm>
        </p:grpSpPr>
        <p:sp>
          <p:nvSpPr>
            <p:cNvPr id="11" name="Freeform 11"/>
            <p:cNvSpPr/>
            <p:nvPr/>
          </p:nvSpPr>
          <p:spPr>
            <a:xfrm>
              <a:off x="-55" y="-66971"/>
              <a:ext cx="4201360" cy="895985"/>
            </a:xfrm>
            <a:custGeom>
              <a:avLst/>
              <a:gdLst/>
              <a:ahLst/>
              <a:cxnLst/>
              <a:rect l="l" t="t" r="r" b="b"/>
              <a:pathLst>
                <a:path w="4201361" h="895985">
                  <a:moveTo>
                    <a:pt x="0" y="448056"/>
                  </a:moveTo>
                  <a:cubicBezTo>
                    <a:pt x="0" y="200533"/>
                    <a:pt x="232624" y="0"/>
                    <a:pt x="519758" y="0"/>
                  </a:cubicBezTo>
                  <a:lnTo>
                    <a:pt x="3681620" y="0"/>
                  </a:lnTo>
                  <a:cubicBezTo>
                    <a:pt x="3968607" y="0"/>
                    <a:pt x="4201361" y="200533"/>
                    <a:pt x="4201361" y="448056"/>
                  </a:cubicBezTo>
                  <a:cubicBezTo>
                    <a:pt x="4201361" y="695579"/>
                    <a:pt x="3968607" y="895985"/>
                    <a:pt x="3681620" y="895985"/>
                  </a:cubicBezTo>
                  <a:lnTo>
                    <a:pt x="519758" y="895985"/>
                  </a:lnTo>
                  <a:cubicBezTo>
                    <a:pt x="232624" y="895985"/>
                    <a:pt x="0" y="695452"/>
                    <a:pt x="0" y="448056"/>
                  </a:cubicBezTo>
                  <a:close/>
                </a:path>
              </a:pathLst>
            </a:custGeom>
            <a:solidFill>
              <a:srgbClr val="FFFFFF"/>
            </a:solidFill>
          </p:spPr>
          <p:txBody>
            <a:bodyPr/>
            <a:lstStyle/>
            <a:p>
              <a:endParaRPr lang="zh-CN" altLang="en-US" dirty="0"/>
            </a:p>
          </p:txBody>
        </p:sp>
      </p:grpSp>
      <p:grpSp>
        <p:nvGrpSpPr>
          <p:cNvPr id="12" name="Group 12"/>
          <p:cNvGrpSpPr/>
          <p:nvPr/>
        </p:nvGrpSpPr>
        <p:grpSpPr>
          <a:xfrm>
            <a:off x="6476792" y="7544471"/>
            <a:ext cx="2716257" cy="671995"/>
            <a:chOff x="0" y="0"/>
            <a:chExt cx="3621676" cy="895994"/>
          </a:xfrm>
        </p:grpSpPr>
        <p:sp>
          <p:nvSpPr>
            <p:cNvPr id="13" name="Freeform 13"/>
            <p:cNvSpPr/>
            <p:nvPr/>
          </p:nvSpPr>
          <p:spPr>
            <a:xfrm>
              <a:off x="0" y="0"/>
              <a:ext cx="3621786" cy="895985"/>
            </a:xfrm>
            <a:custGeom>
              <a:avLst/>
              <a:gdLst/>
              <a:ahLst/>
              <a:cxnLst/>
              <a:rect l="l" t="t" r="r" b="b"/>
              <a:pathLst>
                <a:path w="3621786" h="895985">
                  <a:moveTo>
                    <a:pt x="0" y="448056"/>
                  </a:moveTo>
                  <a:cubicBezTo>
                    <a:pt x="0" y="200533"/>
                    <a:pt x="200533" y="0"/>
                    <a:pt x="448056" y="0"/>
                  </a:cubicBezTo>
                  <a:lnTo>
                    <a:pt x="3173730" y="0"/>
                  </a:lnTo>
                  <a:cubicBezTo>
                    <a:pt x="3421126" y="0"/>
                    <a:pt x="3621786" y="200533"/>
                    <a:pt x="3621786" y="448056"/>
                  </a:cubicBezTo>
                  <a:cubicBezTo>
                    <a:pt x="3621786" y="695579"/>
                    <a:pt x="3421126" y="895985"/>
                    <a:pt x="3173730" y="895985"/>
                  </a:cubicBezTo>
                  <a:lnTo>
                    <a:pt x="448056" y="895985"/>
                  </a:lnTo>
                  <a:cubicBezTo>
                    <a:pt x="200533" y="895985"/>
                    <a:pt x="0" y="695452"/>
                    <a:pt x="0" y="448056"/>
                  </a:cubicBezTo>
                  <a:close/>
                </a:path>
              </a:pathLst>
            </a:custGeom>
            <a:solidFill>
              <a:srgbClr val="FFFFFF"/>
            </a:solidFill>
          </p:spPr>
        </p:sp>
      </p:grpSp>
      <p:sp>
        <p:nvSpPr>
          <p:cNvPr id="14" name="Freeform 14"/>
          <p:cNvSpPr/>
          <p:nvPr/>
        </p:nvSpPr>
        <p:spPr>
          <a:xfrm>
            <a:off x="148631" y="389818"/>
            <a:ext cx="4890441" cy="1630147"/>
          </a:xfrm>
          <a:custGeom>
            <a:avLst/>
            <a:gdLst/>
            <a:ahLst/>
            <a:cxnLst/>
            <a:rect l="l" t="t" r="r" b="b"/>
            <a:pathLst>
              <a:path w="4890441" h="1630147">
                <a:moveTo>
                  <a:pt x="0" y="0"/>
                </a:moveTo>
                <a:lnTo>
                  <a:pt x="4890441" y="0"/>
                </a:lnTo>
                <a:lnTo>
                  <a:pt x="4890441" y="1630147"/>
                </a:lnTo>
                <a:lnTo>
                  <a:pt x="0" y="1630147"/>
                </a:lnTo>
                <a:lnTo>
                  <a:pt x="0" y="0"/>
                </a:lnTo>
                <a:close/>
              </a:path>
            </a:pathLst>
          </a:custGeom>
          <a:blipFill>
            <a:blip r:embed="rId2"/>
            <a:stretch>
              <a:fillRect/>
            </a:stretch>
          </a:blipFill>
        </p:spPr>
      </p:sp>
      <p:sp>
        <p:nvSpPr>
          <p:cNvPr id="15" name="TextBox 15"/>
          <p:cNvSpPr txBox="1"/>
          <p:nvPr/>
        </p:nvSpPr>
        <p:spPr>
          <a:xfrm>
            <a:off x="998855" y="2628900"/>
            <a:ext cx="11253470" cy="2344420"/>
          </a:xfrm>
          <a:prstGeom prst="rect">
            <a:avLst/>
          </a:prstGeom>
        </p:spPr>
        <p:txBody>
          <a:bodyPr wrap="square" lIns="0" tIns="0" rIns="0" bIns="0" rtlCol="0" anchor="t">
            <a:noAutofit/>
          </a:bodyPr>
          <a:lstStyle/>
          <a:p>
            <a:pPr algn="just"/>
            <a:r>
              <a:rPr lang="en-US" altLang="zh-CN" sz="8000" dirty="0">
                <a:solidFill>
                  <a:srgbClr val="FFFFFF"/>
                </a:solidFill>
                <a:latin typeface="微软雅黑" panose="020B0503020204020204" pitchFamily="34" charset="-122"/>
                <a:ea typeface="微软雅黑" panose="020B0503020204020204" pitchFamily="34" charset="-122"/>
              </a:rPr>
              <a:t>2026.1.16</a:t>
            </a:r>
            <a:r>
              <a:rPr lang="zh-CN" altLang="en-US" sz="8000" dirty="0">
                <a:solidFill>
                  <a:srgbClr val="FFFFFF"/>
                </a:solidFill>
                <a:latin typeface="微软雅黑" panose="020B0503020204020204" pitchFamily="34" charset="-122"/>
                <a:ea typeface="微软雅黑" panose="020B0503020204020204" pitchFamily="34" charset="-122"/>
              </a:rPr>
              <a:t>组会汇报</a:t>
            </a:r>
            <a:endParaRPr lang="zh-CN" altLang="en-US" sz="8000" dirty="0">
              <a:solidFill>
                <a:srgbClr val="FFFFFF"/>
              </a:solidFill>
              <a:latin typeface="微软雅黑" panose="020B0503020204020204" pitchFamily="34" charset="-122"/>
              <a:ea typeface="微软雅黑" panose="020B0503020204020204" pitchFamily="34" charset="-122"/>
            </a:endParaRPr>
          </a:p>
          <a:p>
            <a:pPr algn="just"/>
            <a:r>
              <a:rPr lang="zh-CN" altLang="en-US" sz="8000" dirty="0">
                <a:solidFill>
                  <a:srgbClr val="FFFFFF"/>
                </a:solidFill>
                <a:latin typeface="微软雅黑" panose="020B0503020204020204" pitchFamily="34" charset="-122"/>
                <a:ea typeface="微软雅黑" panose="020B0503020204020204" pitchFamily="34" charset="-122"/>
              </a:rPr>
              <a:t>无人机通信抗干扰性能的测试评估技术研究</a:t>
            </a:r>
            <a:endParaRPr lang="zh-CN" altLang="en-US" sz="8000" dirty="0">
              <a:solidFill>
                <a:srgbClr val="FFFFFF"/>
              </a:solidFill>
              <a:latin typeface="微软雅黑" panose="020B0503020204020204" pitchFamily="34" charset="-122"/>
              <a:ea typeface="微软雅黑" panose="020B0503020204020204" pitchFamily="34" charset="-122"/>
            </a:endParaRPr>
          </a:p>
        </p:txBody>
      </p:sp>
      <p:sp>
        <p:nvSpPr>
          <p:cNvPr id="16" name="TextBox 16"/>
          <p:cNvSpPr txBox="1"/>
          <p:nvPr/>
        </p:nvSpPr>
        <p:spPr>
          <a:xfrm>
            <a:off x="6485891" y="7675280"/>
            <a:ext cx="2716339" cy="415290"/>
          </a:xfrm>
          <a:prstGeom prst="rect">
            <a:avLst/>
          </a:prstGeom>
        </p:spPr>
        <p:txBody>
          <a:bodyPr wrap="square" lIns="0" tIns="0" rIns="0" bIns="0" rtlCol="0" anchor="t">
            <a:spAutoFit/>
          </a:bodyPr>
          <a:lstStyle/>
          <a:p>
            <a:pPr algn="ctr">
              <a:lnSpc>
                <a:spcPts val="3240"/>
              </a:lnSpc>
            </a:pPr>
            <a:r>
              <a:rPr lang="en-US" sz="2700" dirty="0">
                <a:solidFill>
                  <a:srgbClr val="001C54"/>
                </a:solidFill>
                <a:latin typeface="+mn-ea"/>
              </a:rPr>
              <a:t>时间</a:t>
            </a:r>
            <a:r>
              <a:rPr lang="en-US" sz="2700" dirty="0">
                <a:solidFill>
                  <a:srgbClr val="001C54"/>
                </a:solidFill>
                <a:ea typeface="思源黑体 Light" panose="020B0400000000000000" charset="-122"/>
              </a:rPr>
              <a:t>：2026.1.16</a:t>
            </a:r>
            <a:endParaRPr lang="en-US" sz="2700" dirty="0">
              <a:solidFill>
                <a:srgbClr val="001C54"/>
              </a:solidFill>
              <a:ea typeface="思源黑体 Light" panose="020B0400000000000000" charset="-122"/>
            </a:endParaRPr>
          </a:p>
        </p:txBody>
      </p:sp>
      <p:sp>
        <p:nvSpPr>
          <p:cNvPr id="17" name="TextBox 17"/>
          <p:cNvSpPr txBox="1"/>
          <p:nvPr/>
        </p:nvSpPr>
        <p:spPr>
          <a:xfrm>
            <a:off x="999098" y="7682533"/>
            <a:ext cx="4578716" cy="415290"/>
          </a:xfrm>
          <a:prstGeom prst="rect">
            <a:avLst/>
          </a:prstGeom>
        </p:spPr>
        <p:txBody>
          <a:bodyPr wrap="square" lIns="0" tIns="0" rIns="0" bIns="0" rtlCol="0" anchor="t">
            <a:spAutoFit/>
          </a:bodyPr>
          <a:lstStyle/>
          <a:p>
            <a:pPr algn="ctr">
              <a:lnSpc>
                <a:spcPts val="3240"/>
              </a:lnSpc>
            </a:pPr>
            <a:r>
              <a:rPr lang="zh-CN" altLang="en-US" sz="2700" dirty="0">
                <a:solidFill>
                  <a:srgbClr val="001C54"/>
                </a:solidFill>
                <a:latin typeface="+mn-ea"/>
                <a:ea typeface="思源黑体 Light" panose="020B0400000000000000" charset="-122"/>
              </a:rPr>
              <a:t>汇报人：周正阳</a:t>
            </a:r>
            <a:endParaRPr lang="en-US" sz="2700" dirty="0">
              <a:solidFill>
                <a:srgbClr val="001C54"/>
              </a:solidFill>
              <a:ea typeface="思源黑体 Light" panose="020B04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38223"/>
            <a:ext cx="1074191" cy="1275537"/>
            <a:chOff x="0" y="0"/>
            <a:chExt cx="1432254" cy="1700717"/>
          </a:xfrm>
        </p:grpSpPr>
        <p:sp>
          <p:nvSpPr>
            <p:cNvPr id="8" name="Freeform 8"/>
            <p:cNvSpPr/>
            <p:nvPr/>
          </p:nvSpPr>
          <p:spPr>
            <a:xfrm>
              <a:off x="0" y="0"/>
              <a:ext cx="1432260" cy="1700713"/>
            </a:xfrm>
            <a:custGeom>
              <a:avLst/>
              <a:gdLst/>
              <a:ahLst/>
              <a:cxnLst/>
              <a:rect l="l" t="t" r="r" b="b"/>
              <a:pathLst>
                <a:path w="1432260" h="1700713">
                  <a:moveTo>
                    <a:pt x="0" y="0"/>
                  </a:moveTo>
                  <a:lnTo>
                    <a:pt x="1432260" y="0"/>
                  </a:lnTo>
                  <a:lnTo>
                    <a:pt x="1432260" y="1700713"/>
                  </a:lnTo>
                  <a:lnTo>
                    <a:pt x="0" y="1700713"/>
                  </a:lnTo>
                  <a:close/>
                </a:path>
              </a:pathLst>
            </a:custGeom>
            <a:solidFill>
              <a:srgbClr val="2F528F"/>
            </a:solidFill>
          </p:spPr>
        </p:sp>
      </p:grpSp>
      <p:sp>
        <p:nvSpPr>
          <p:cNvPr id="9" name="TextBox 9"/>
          <p:cNvSpPr txBox="1"/>
          <p:nvPr/>
        </p:nvSpPr>
        <p:spPr>
          <a:xfrm>
            <a:off x="1219200" y="266700"/>
            <a:ext cx="2792730" cy="738505"/>
          </a:xfrm>
          <a:prstGeom prst="rect">
            <a:avLst/>
          </a:prstGeom>
        </p:spPr>
        <p:txBody>
          <a:bodyPr wrap="square" lIns="0" tIns="0" rIns="0" bIns="0" rtlCol="0" anchor="t">
            <a:spAutoFit/>
          </a:bodyPr>
          <a:lstStyle/>
          <a:p>
            <a:pPr algn="l">
              <a:lnSpc>
                <a:spcPts val="5760"/>
              </a:lnSpc>
            </a:pPr>
            <a:r>
              <a:rPr lang="zh-CN" altLang="en-US" sz="4800" dirty="0">
                <a:solidFill>
                  <a:srgbClr val="001C54"/>
                </a:solidFill>
                <a:ea typeface="思源黑体 Heavy" panose="020B0A00000000000000" charset="-122"/>
              </a:rPr>
              <a:t>本周进展</a:t>
            </a:r>
            <a:endParaRPr lang="zh-CN" altLang="en-US" sz="4800" dirty="0">
              <a:solidFill>
                <a:srgbClr val="001C54"/>
              </a:solidFill>
              <a:ea typeface="思源黑体 Heavy" panose="020B0A00000000000000" charset="-122"/>
            </a:endParaRPr>
          </a:p>
        </p:txBody>
      </p:sp>
      <p:sp>
        <p:nvSpPr>
          <p:cNvPr id="25" name="Freeform 17"/>
          <p:cNvSpPr/>
          <p:nvPr/>
        </p:nvSpPr>
        <p:spPr>
          <a:xfrm>
            <a:off x="14173402" y="37809"/>
            <a:ext cx="4065109" cy="1355036"/>
          </a:xfrm>
          <a:custGeom>
            <a:avLst/>
            <a:gdLst/>
            <a:ahLst/>
            <a:cxnLst/>
            <a:rect l="l" t="t" r="r" b="b"/>
            <a:pathLst>
              <a:path w="4065109" h="1355036">
                <a:moveTo>
                  <a:pt x="0" y="0"/>
                </a:moveTo>
                <a:lnTo>
                  <a:pt x="4065110" y="0"/>
                </a:lnTo>
                <a:lnTo>
                  <a:pt x="4065110" y="1355037"/>
                </a:lnTo>
                <a:lnTo>
                  <a:pt x="0" y="1355037"/>
                </a:lnTo>
                <a:lnTo>
                  <a:pt x="0" y="0"/>
                </a:lnTo>
                <a:close/>
              </a:path>
            </a:pathLst>
          </a:custGeom>
          <a:blipFill>
            <a:blip r:embed="rId1"/>
            <a:stretch>
              <a:fillRect/>
            </a:stretch>
          </a:blipFill>
        </p:spPr>
      </p:sp>
      <p:pic>
        <p:nvPicPr>
          <p:cNvPr id="4" name="图片 3"/>
          <p:cNvPicPr>
            <a:picLocks noChangeAspect="1"/>
          </p:cNvPicPr>
          <p:nvPr/>
        </p:nvPicPr>
        <p:blipFill>
          <a:blip r:embed="rId2"/>
          <a:stretch>
            <a:fillRect/>
          </a:stretch>
        </p:blipFill>
        <p:spPr>
          <a:xfrm>
            <a:off x="152400" y="2364740"/>
            <a:ext cx="8228965" cy="5208905"/>
          </a:xfrm>
          <a:prstGeom prst="rect">
            <a:avLst/>
          </a:prstGeom>
        </p:spPr>
      </p:pic>
      <p:pic>
        <p:nvPicPr>
          <p:cNvPr id="5" name="图片 4"/>
          <p:cNvPicPr>
            <a:picLocks noChangeAspect="1"/>
          </p:cNvPicPr>
          <p:nvPr/>
        </p:nvPicPr>
        <p:blipFill>
          <a:blip r:embed="rId3"/>
          <a:stretch>
            <a:fillRect/>
          </a:stretch>
        </p:blipFill>
        <p:spPr>
          <a:xfrm>
            <a:off x="7917180" y="1943100"/>
            <a:ext cx="10227945" cy="71012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38223"/>
            <a:ext cx="1074191" cy="1275537"/>
            <a:chOff x="0" y="0"/>
            <a:chExt cx="1432254" cy="1700717"/>
          </a:xfrm>
        </p:grpSpPr>
        <p:sp>
          <p:nvSpPr>
            <p:cNvPr id="8" name="Freeform 8"/>
            <p:cNvSpPr/>
            <p:nvPr/>
          </p:nvSpPr>
          <p:spPr>
            <a:xfrm>
              <a:off x="0" y="0"/>
              <a:ext cx="1432260" cy="1700713"/>
            </a:xfrm>
            <a:custGeom>
              <a:avLst/>
              <a:gdLst/>
              <a:ahLst/>
              <a:cxnLst/>
              <a:rect l="l" t="t" r="r" b="b"/>
              <a:pathLst>
                <a:path w="1432260" h="1700713">
                  <a:moveTo>
                    <a:pt x="0" y="0"/>
                  </a:moveTo>
                  <a:lnTo>
                    <a:pt x="1432260" y="0"/>
                  </a:lnTo>
                  <a:lnTo>
                    <a:pt x="1432260" y="1700713"/>
                  </a:lnTo>
                  <a:lnTo>
                    <a:pt x="0" y="1700713"/>
                  </a:lnTo>
                  <a:close/>
                </a:path>
              </a:pathLst>
            </a:custGeom>
            <a:solidFill>
              <a:srgbClr val="2F528F"/>
            </a:solidFill>
          </p:spPr>
        </p:sp>
      </p:grpSp>
      <p:sp>
        <p:nvSpPr>
          <p:cNvPr id="9" name="TextBox 9"/>
          <p:cNvSpPr txBox="1"/>
          <p:nvPr/>
        </p:nvSpPr>
        <p:spPr>
          <a:xfrm>
            <a:off x="1219200" y="266700"/>
            <a:ext cx="2792730" cy="738505"/>
          </a:xfrm>
          <a:prstGeom prst="rect">
            <a:avLst/>
          </a:prstGeom>
        </p:spPr>
        <p:txBody>
          <a:bodyPr wrap="square" lIns="0" tIns="0" rIns="0" bIns="0" rtlCol="0" anchor="t">
            <a:spAutoFit/>
          </a:bodyPr>
          <a:lstStyle/>
          <a:p>
            <a:pPr algn="l">
              <a:lnSpc>
                <a:spcPts val="5760"/>
              </a:lnSpc>
            </a:pPr>
            <a:r>
              <a:rPr lang="zh-CN" altLang="en-US" sz="4800" dirty="0">
                <a:solidFill>
                  <a:srgbClr val="001C54"/>
                </a:solidFill>
                <a:ea typeface="思源黑体 Heavy" panose="020B0A00000000000000" charset="-122"/>
              </a:rPr>
              <a:t>本周进展</a:t>
            </a:r>
            <a:endParaRPr lang="zh-CN" altLang="en-US" sz="4800" dirty="0">
              <a:solidFill>
                <a:srgbClr val="001C54"/>
              </a:solidFill>
              <a:ea typeface="思源黑体 Heavy" panose="020B0A00000000000000" charset="-122"/>
            </a:endParaRPr>
          </a:p>
        </p:txBody>
      </p:sp>
      <p:sp>
        <p:nvSpPr>
          <p:cNvPr id="25" name="Freeform 17"/>
          <p:cNvSpPr/>
          <p:nvPr/>
        </p:nvSpPr>
        <p:spPr>
          <a:xfrm>
            <a:off x="14173402" y="37809"/>
            <a:ext cx="4065109" cy="1355036"/>
          </a:xfrm>
          <a:custGeom>
            <a:avLst/>
            <a:gdLst/>
            <a:ahLst/>
            <a:cxnLst/>
            <a:rect l="l" t="t" r="r" b="b"/>
            <a:pathLst>
              <a:path w="4065109" h="1355036">
                <a:moveTo>
                  <a:pt x="0" y="0"/>
                </a:moveTo>
                <a:lnTo>
                  <a:pt x="4065110" y="0"/>
                </a:lnTo>
                <a:lnTo>
                  <a:pt x="4065110" y="1355037"/>
                </a:lnTo>
                <a:lnTo>
                  <a:pt x="0" y="1355037"/>
                </a:lnTo>
                <a:lnTo>
                  <a:pt x="0" y="0"/>
                </a:lnTo>
                <a:close/>
              </a:path>
            </a:pathLst>
          </a:custGeom>
          <a:blipFill>
            <a:blip r:embed="rId1"/>
            <a:stretch>
              <a:fillRect/>
            </a:stretch>
          </a:blipFill>
        </p:spPr>
      </p:sp>
      <p:pic>
        <p:nvPicPr>
          <p:cNvPr id="4" name="图片 3"/>
          <p:cNvPicPr>
            <a:picLocks noChangeAspect="1"/>
          </p:cNvPicPr>
          <p:nvPr/>
        </p:nvPicPr>
        <p:blipFill>
          <a:blip r:embed="rId2"/>
          <a:stretch>
            <a:fillRect/>
          </a:stretch>
        </p:blipFill>
        <p:spPr>
          <a:xfrm>
            <a:off x="304800" y="1790700"/>
            <a:ext cx="8258175" cy="7028180"/>
          </a:xfrm>
          <a:prstGeom prst="rect">
            <a:avLst/>
          </a:prstGeom>
        </p:spPr>
      </p:pic>
      <p:pic>
        <p:nvPicPr>
          <p:cNvPr id="5" name="图片 4"/>
          <p:cNvPicPr>
            <a:picLocks noChangeAspect="1"/>
          </p:cNvPicPr>
          <p:nvPr/>
        </p:nvPicPr>
        <p:blipFill>
          <a:blip r:embed="rId3"/>
          <a:stretch>
            <a:fillRect/>
          </a:stretch>
        </p:blipFill>
        <p:spPr>
          <a:xfrm>
            <a:off x="8556625" y="2095500"/>
            <a:ext cx="9402445" cy="61633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38223"/>
            <a:ext cx="1074191" cy="1275537"/>
            <a:chOff x="0" y="0"/>
            <a:chExt cx="1432254" cy="1700717"/>
          </a:xfrm>
        </p:grpSpPr>
        <p:sp>
          <p:nvSpPr>
            <p:cNvPr id="8" name="Freeform 8"/>
            <p:cNvSpPr/>
            <p:nvPr/>
          </p:nvSpPr>
          <p:spPr>
            <a:xfrm>
              <a:off x="0" y="0"/>
              <a:ext cx="1432260" cy="1700713"/>
            </a:xfrm>
            <a:custGeom>
              <a:avLst/>
              <a:gdLst/>
              <a:ahLst/>
              <a:cxnLst/>
              <a:rect l="l" t="t" r="r" b="b"/>
              <a:pathLst>
                <a:path w="1432260" h="1700713">
                  <a:moveTo>
                    <a:pt x="0" y="0"/>
                  </a:moveTo>
                  <a:lnTo>
                    <a:pt x="1432260" y="0"/>
                  </a:lnTo>
                  <a:lnTo>
                    <a:pt x="1432260" y="1700713"/>
                  </a:lnTo>
                  <a:lnTo>
                    <a:pt x="0" y="1700713"/>
                  </a:lnTo>
                  <a:close/>
                </a:path>
              </a:pathLst>
            </a:custGeom>
            <a:solidFill>
              <a:srgbClr val="2F528F"/>
            </a:solidFill>
          </p:spPr>
        </p:sp>
      </p:grpSp>
      <p:sp>
        <p:nvSpPr>
          <p:cNvPr id="9" name="TextBox 9"/>
          <p:cNvSpPr txBox="1"/>
          <p:nvPr/>
        </p:nvSpPr>
        <p:spPr>
          <a:xfrm>
            <a:off x="1219200" y="266700"/>
            <a:ext cx="2792730" cy="738505"/>
          </a:xfrm>
          <a:prstGeom prst="rect">
            <a:avLst/>
          </a:prstGeom>
        </p:spPr>
        <p:txBody>
          <a:bodyPr wrap="square" lIns="0" tIns="0" rIns="0" bIns="0" rtlCol="0" anchor="t">
            <a:spAutoFit/>
          </a:bodyPr>
          <a:lstStyle/>
          <a:p>
            <a:pPr algn="l">
              <a:lnSpc>
                <a:spcPts val="5760"/>
              </a:lnSpc>
            </a:pPr>
            <a:r>
              <a:rPr lang="zh-CN" altLang="en-US" sz="4800" dirty="0">
                <a:solidFill>
                  <a:srgbClr val="001C54"/>
                </a:solidFill>
                <a:ea typeface="思源黑体 Heavy" panose="020B0A00000000000000" charset="-122"/>
              </a:rPr>
              <a:t>本周进展</a:t>
            </a:r>
            <a:endParaRPr lang="zh-CN" altLang="en-US" sz="4800" dirty="0">
              <a:solidFill>
                <a:srgbClr val="001C54"/>
              </a:solidFill>
              <a:ea typeface="思源黑体 Heavy" panose="020B0A00000000000000" charset="-122"/>
            </a:endParaRPr>
          </a:p>
        </p:txBody>
      </p:sp>
      <p:sp>
        <p:nvSpPr>
          <p:cNvPr id="25" name="Freeform 17"/>
          <p:cNvSpPr/>
          <p:nvPr/>
        </p:nvSpPr>
        <p:spPr>
          <a:xfrm>
            <a:off x="14173402" y="37809"/>
            <a:ext cx="4065109" cy="1355036"/>
          </a:xfrm>
          <a:custGeom>
            <a:avLst/>
            <a:gdLst/>
            <a:ahLst/>
            <a:cxnLst/>
            <a:rect l="l" t="t" r="r" b="b"/>
            <a:pathLst>
              <a:path w="4065109" h="1355036">
                <a:moveTo>
                  <a:pt x="0" y="0"/>
                </a:moveTo>
                <a:lnTo>
                  <a:pt x="4065110" y="0"/>
                </a:lnTo>
                <a:lnTo>
                  <a:pt x="4065110" y="1355037"/>
                </a:lnTo>
                <a:lnTo>
                  <a:pt x="0" y="1355037"/>
                </a:lnTo>
                <a:lnTo>
                  <a:pt x="0" y="0"/>
                </a:lnTo>
                <a:close/>
              </a:path>
            </a:pathLst>
          </a:custGeom>
          <a:blipFill>
            <a:blip r:embed="rId1"/>
            <a:stretch>
              <a:fillRect/>
            </a:stretch>
          </a:blipFill>
        </p:spPr>
      </p:sp>
      <p:pic>
        <p:nvPicPr>
          <p:cNvPr id="3" name="图片 2"/>
          <p:cNvPicPr>
            <a:picLocks noChangeAspect="1"/>
          </p:cNvPicPr>
          <p:nvPr/>
        </p:nvPicPr>
        <p:blipFill>
          <a:blip r:embed="rId2"/>
          <a:stretch>
            <a:fillRect/>
          </a:stretch>
        </p:blipFill>
        <p:spPr>
          <a:xfrm>
            <a:off x="609600" y="2095500"/>
            <a:ext cx="17297400" cy="6497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38223"/>
            <a:ext cx="1074191" cy="1275537"/>
            <a:chOff x="0" y="0"/>
            <a:chExt cx="1432254" cy="1700717"/>
          </a:xfrm>
        </p:grpSpPr>
        <p:sp>
          <p:nvSpPr>
            <p:cNvPr id="8" name="Freeform 8"/>
            <p:cNvSpPr/>
            <p:nvPr/>
          </p:nvSpPr>
          <p:spPr>
            <a:xfrm>
              <a:off x="0" y="0"/>
              <a:ext cx="1432260" cy="1700713"/>
            </a:xfrm>
            <a:custGeom>
              <a:avLst/>
              <a:gdLst/>
              <a:ahLst/>
              <a:cxnLst/>
              <a:rect l="l" t="t" r="r" b="b"/>
              <a:pathLst>
                <a:path w="1432260" h="1700713">
                  <a:moveTo>
                    <a:pt x="0" y="0"/>
                  </a:moveTo>
                  <a:lnTo>
                    <a:pt x="1432260" y="0"/>
                  </a:lnTo>
                  <a:lnTo>
                    <a:pt x="1432260" y="1700713"/>
                  </a:lnTo>
                  <a:lnTo>
                    <a:pt x="0" y="1700713"/>
                  </a:lnTo>
                  <a:close/>
                </a:path>
              </a:pathLst>
            </a:custGeom>
            <a:solidFill>
              <a:srgbClr val="2F528F"/>
            </a:solidFill>
          </p:spPr>
        </p:sp>
      </p:grpSp>
      <p:sp>
        <p:nvSpPr>
          <p:cNvPr id="9" name="TextBox 9"/>
          <p:cNvSpPr txBox="1"/>
          <p:nvPr/>
        </p:nvSpPr>
        <p:spPr>
          <a:xfrm>
            <a:off x="1219200" y="266700"/>
            <a:ext cx="2792730" cy="738505"/>
          </a:xfrm>
          <a:prstGeom prst="rect">
            <a:avLst/>
          </a:prstGeom>
        </p:spPr>
        <p:txBody>
          <a:bodyPr wrap="square" lIns="0" tIns="0" rIns="0" bIns="0" rtlCol="0" anchor="t">
            <a:spAutoFit/>
          </a:bodyPr>
          <a:lstStyle/>
          <a:p>
            <a:pPr algn="l">
              <a:lnSpc>
                <a:spcPts val="5760"/>
              </a:lnSpc>
            </a:pPr>
            <a:r>
              <a:rPr lang="zh-CN" altLang="en-US" sz="4800" dirty="0">
                <a:solidFill>
                  <a:srgbClr val="001C54"/>
                </a:solidFill>
                <a:ea typeface="思源黑体 Heavy" panose="020B0A00000000000000" charset="-122"/>
              </a:rPr>
              <a:t>本周进展</a:t>
            </a:r>
            <a:endParaRPr lang="zh-CN" altLang="en-US" sz="4800" dirty="0">
              <a:solidFill>
                <a:srgbClr val="001C54"/>
              </a:solidFill>
              <a:ea typeface="思源黑体 Heavy" panose="020B0A00000000000000" charset="-122"/>
            </a:endParaRPr>
          </a:p>
        </p:txBody>
      </p:sp>
      <p:sp>
        <p:nvSpPr>
          <p:cNvPr id="25" name="Freeform 17"/>
          <p:cNvSpPr/>
          <p:nvPr/>
        </p:nvSpPr>
        <p:spPr>
          <a:xfrm>
            <a:off x="14173402" y="37809"/>
            <a:ext cx="4065109" cy="1355036"/>
          </a:xfrm>
          <a:custGeom>
            <a:avLst/>
            <a:gdLst/>
            <a:ahLst/>
            <a:cxnLst/>
            <a:rect l="l" t="t" r="r" b="b"/>
            <a:pathLst>
              <a:path w="4065109" h="1355036">
                <a:moveTo>
                  <a:pt x="0" y="0"/>
                </a:moveTo>
                <a:lnTo>
                  <a:pt x="4065110" y="0"/>
                </a:lnTo>
                <a:lnTo>
                  <a:pt x="4065110" y="1355037"/>
                </a:lnTo>
                <a:lnTo>
                  <a:pt x="0" y="1355037"/>
                </a:lnTo>
                <a:lnTo>
                  <a:pt x="0" y="0"/>
                </a:lnTo>
                <a:close/>
              </a:path>
            </a:pathLst>
          </a:custGeom>
          <a:blipFill>
            <a:blip r:embed="rId1"/>
            <a:stretch>
              <a:fillRect/>
            </a:stretch>
          </a:blipFill>
        </p:spPr>
      </p:sp>
      <p:pic>
        <p:nvPicPr>
          <p:cNvPr id="3" name="图片 2"/>
          <p:cNvPicPr>
            <a:picLocks noChangeAspect="1"/>
          </p:cNvPicPr>
          <p:nvPr/>
        </p:nvPicPr>
        <p:blipFill>
          <a:blip r:embed="rId2"/>
          <a:stretch>
            <a:fillRect/>
          </a:stretch>
        </p:blipFill>
        <p:spPr>
          <a:xfrm>
            <a:off x="76200" y="2218690"/>
            <a:ext cx="8629650" cy="6079490"/>
          </a:xfrm>
          <a:prstGeom prst="rect">
            <a:avLst/>
          </a:prstGeom>
        </p:spPr>
      </p:pic>
      <p:pic>
        <p:nvPicPr>
          <p:cNvPr id="4" name="图片 3"/>
          <p:cNvPicPr>
            <a:picLocks noChangeAspect="1"/>
          </p:cNvPicPr>
          <p:nvPr/>
        </p:nvPicPr>
        <p:blipFill>
          <a:blip r:embed="rId3"/>
          <a:stretch>
            <a:fillRect/>
          </a:stretch>
        </p:blipFill>
        <p:spPr>
          <a:xfrm>
            <a:off x="8382000" y="2379345"/>
            <a:ext cx="9664700" cy="5831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28600" y="0"/>
            <a:ext cx="8489950" cy="10196195"/>
          </a:xfrm>
          <a:prstGeom prst="rect">
            <a:avLst/>
          </a:prstGeom>
        </p:spPr>
      </p:pic>
      <p:pic>
        <p:nvPicPr>
          <p:cNvPr id="4" name="图片 3"/>
          <p:cNvPicPr>
            <a:picLocks noChangeAspect="1"/>
          </p:cNvPicPr>
          <p:nvPr/>
        </p:nvPicPr>
        <p:blipFill>
          <a:blip r:embed="rId2"/>
          <a:stretch>
            <a:fillRect/>
          </a:stretch>
        </p:blipFill>
        <p:spPr>
          <a:xfrm>
            <a:off x="8848090" y="38100"/>
            <a:ext cx="8847455" cy="10229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52400" y="190500"/>
            <a:ext cx="9265285" cy="9763125"/>
          </a:xfrm>
          <a:prstGeom prst="rect">
            <a:avLst/>
          </a:prstGeom>
        </p:spPr>
      </p:pic>
      <p:pic>
        <p:nvPicPr>
          <p:cNvPr id="3" name="图片 2"/>
          <p:cNvPicPr>
            <a:picLocks noChangeAspect="1"/>
          </p:cNvPicPr>
          <p:nvPr/>
        </p:nvPicPr>
        <p:blipFill>
          <a:blip r:embed="rId2"/>
          <a:stretch>
            <a:fillRect/>
          </a:stretch>
        </p:blipFill>
        <p:spPr>
          <a:xfrm>
            <a:off x="9144000" y="254000"/>
            <a:ext cx="8547735" cy="29559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38223"/>
            <a:ext cx="1074191" cy="1275537"/>
            <a:chOff x="0" y="0"/>
            <a:chExt cx="1432254" cy="1700717"/>
          </a:xfrm>
        </p:grpSpPr>
        <p:sp>
          <p:nvSpPr>
            <p:cNvPr id="8" name="Freeform 8"/>
            <p:cNvSpPr/>
            <p:nvPr/>
          </p:nvSpPr>
          <p:spPr>
            <a:xfrm>
              <a:off x="0" y="0"/>
              <a:ext cx="1432260" cy="1700713"/>
            </a:xfrm>
            <a:custGeom>
              <a:avLst/>
              <a:gdLst/>
              <a:ahLst/>
              <a:cxnLst/>
              <a:rect l="l" t="t" r="r" b="b"/>
              <a:pathLst>
                <a:path w="1432260" h="1700713">
                  <a:moveTo>
                    <a:pt x="0" y="0"/>
                  </a:moveTo>
                  <a:lnTo>
                    <a:pt x="1432260" y="0"/>
                  </a:lnTo>
                  <a:lnTo>
                    <a:pt x="1432260" y="1700713"/>
                  </a:lnTo>
                  <a:lnTo>
                    <a:pt x="0" y="1700713"/>
                  </a:lnTo>
                  <a:close/>
                </a:path>
              </a:pathLst>
            </a:custGeom>
            <a:solidFill>
              <a:srgbClr val="2F528F"/>
            </a:solidFill>
          </p:spPr>
        </p:sp>
      </p:grpSp>
      <p:sp>
        <p:nvSpPr>
          <p:cNvPr id="9" name="TextBox 9"/>
          <p:cNvSpPr txBox="1"/>
          <p:nvPr/>
        </p:nvSpPr>
        <p:spPr>
          <a:xfrm>
            <a:off x="1219200" y="266700"/>
            <a:ext cx="2792730" cy="738505"/>
          </a:xfrm>
          <a:prstGeom prst="rect">
            <a:avLst/>
          </a:prstGeom>
        </p:spPr>
        <p:txBody>
          <a:bodyPr wrap="square" lIns="0" tIns="0" rIns="0" bIns="0" rtlCol="0" anchor="t">
            <a:spAutoFit/>
          </a:bodyPr>
          <a:lstStyle/>
          <a:p>
            <a:pPr algn="l">
              <a:lnSpc>
                <a:spcPts val="5760"/>
              </a:lnSpc>
            </a:pPr>
            <a:r>
              <a:rPr lang="zh-CN" altLang="en-US" sz="4800" dirty="0">
                <a:solidFill>
                  <a:srgbClr val="001C54"/>
                </a:solidFill>
                <a:ea typeface="思源黑体 Heavy" panose="020B0A00000000000000" charset="-122"/>
              </a:rPr>
              <a:t>本周进展</a:t>
            </a:r>
            <a:endParaRPr lang="zh-CN" altLang="en-US" sz="4800" dirty="0">
              <a:solidFill>
                <a:srgbClr val="001C54"/>
              </a:solidFill>
              <a:ea typeface="思源黑体 Heavy" panose="020B0A00000000000000" charset="-122"/>
            </a:endParaRPr>
          </a:p>
        </p:txBody>
      </p:sp>
      <p:sp>
        <p:nvSpPr>
          <p:cNvPr id="25" name="Freeform 17"/>
          <p:cNvSpPr/>
          <p:nvPr/>
        </p:nvSpPr>
        <p:spPr>
          <a:xfrm>
            <a:off x="14173402" y="37809"/>
            <a:ext cx="4065109" cy="1355036"/>
          </a:xfrm>
          <a:custGeom>
            <a:avLst/>
            <a:gdLst/>
            <a:ahLst/>
            <a:cxnLst/>
            <a:rect l="l" t="t" r="r" b="b"/>
            <a:pathLst>
              <a:path w="4065109" h="1355036">
                <a:moveTo>
                  <a:pt x="0" y="0"/>
                </a:moveTo>
                <a:lnTo>
                  <a:pt x="4065110" y="0"/>
                </a:lnTo>
                <a:lnTo>
                  <a:pt x="4065110" y="1355037"/>
                </a:lnTo>
                <a:lnTo>
                  <a:pt x="0" y="1355037"/>
                </a:lnTo>
                <a:lnTo>
                  <a:pt x="0" y="0"/>
                </a:lnTo>
                <a:close/>
              </a:path>
            </a:pathLst>
          </a:custGeom>
          <a:blipFill>
            <a:blip r:embed="rId1"/>
            <a:stretch>
              <a:fillRect/>
            </a:stretch>
          </a:blipFill>
        </p:spPr>
      </p:sp>
      <p:pic>
        <p:nvPicPr>
          <p:cNvPr id="3" name="图片 2"/>
          <p:cNvPicPr>
            <a:picLocks noChangeAspect="1"/>
          </p:cNvPicPr>
          <p:nvPr/>
        </p:nvPicPr>
        <p:blipFill>
          <a:blip r:embed="rId2"/>
          <a:stretch>
            <a:fillRect/>
          </a:stretch>
        </p:blipFill>
        <p:spPr>
          <a:xfrm>
            <a:off x="4156710" y="952500"/>
            <a:ext cx="9544050" cy="9070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57200" y="38100"/>
            <a:ext cx="6410960" cy="10229850"/>
          </a:xfrm>
          <a:prstGeom prst="rect">
            <a:avLst/>
          </a:prstGeom>
        </p:spPr>
      </p:pic>
      <p:pic>
        <p:nvPicPr>
          <p:cNvPr id="3" name="图片 2"/>
          <p:cNvPicPr>
            <a:picLocks noChangeAspect="1"/>
          </p:cNvPicPr>
          <p:nvPr/>
        </p:nvPicPr>
        <p:blipFill>
          <a:blip r:embed="rId2"/>
          <a:stretch>
            <a:fillRect/>
          </a:stretch>
        </p:blipFill>
        <p:spPr>
          <a:xfrm>
            <a:off x="8305800" y="266700"/>
            <a:ext cx="8931275" cy="59937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4792"/>
        </a:solidFill>
        <a:effectLst/>
      </p:bgPr>
    </p:bg>
    <p:spTree>
      <p:nvGrpSpPr>
        <p:cNvPr id="1" name=""/>
        <p:cNvGrpSpPr/>
        <p:nvPr/>
      </p:nvGrpSpPr>
      <p:grpSpPr>
        <a:xfrm>
          <a:off x="0" y="0"/>
          <a:ext cx="0" cy="0"/>
          <a:chOff x="0" y="0"/>
          <a:chExt cx="0" cy="0"/>
        </a:xfrm>
      </p:grpSpPr>
      <p:grpSp>
        <p:nvGrpSpPr>
          <p:cNvPr id="2" name="Group 2"/>
          <p:cNvGrpSpPr/>
          <p:nvPr/>
        </p:nvGrpSpPr>
        <p:grpSpPr>
          <a:xfrm>
            <a:off x="9210" y="9041522"/>
            <a:ext cx="18252596" cy="1267599"/>
            <a:chOff x="0" y="0"/>
            <a:chExt cx="24336794" cy="1690132"/>
          </a:xfrm>
        </p:grpSpPr>
        <p:sp>
          <p:nvSpPr>
            <p:cNvPr id="3" name="Freeform 3"/>
            <p:cNvSpPr/>
            <p:nvPr/>
          </p:nvSpPr>
          <p:spPr>
            <a:xfrm>
              <a:off x="0" y="0"/>
              <a:ext cx="24336756" cy="1690116"/>
            </a:xfrm>
            <a:custGeom>
              <a:avLst/>
              <a:gdLst/>
              <a:ahLst/>
              <a:cxnLst/>
              <a:rect l="l" t="t" r="r" b="b"/>
              <a:pathLst>
                <a:path w="24336756" h="1690116">
                  <a:moveTo>
                    <a:pt x="0" y="0"/>
                  </a:moveTo>
                  <a:lnTo>
                    <a:pt x="24336756" y="0"/>
                  </a:lnTo>
                  <a:lnTo>
                    <a:pt x="24336756" y="1690116"/>
                  </a:lnTo>
                  <a:lnTo>
                    <a:pt x="0" y="1690116"/>
                  </a:lnTo>
                  <a:close/>
                </a:path>
              </a:pathLst>
            </a:custGeom>
            <a:solidFill>
              <a:srgbClr val="FFFFFF"/>
            </a:solidFill>
          </p:spPr>
        </p:sp>
      </p:grpSp>
      <p:grpSp>
        <p:nvGrpSpPr>
          <p:cNvPr id="4" name="Group 4"/>
          <p:cNvGrpSpPr/>
          <p:nvPr/>
        </p:nvGrpSpPr>
        <p:grpSpPr>
          <a:xfrm>
            <a:off x="0" y="9485950"/>
            <a:ext cx="18278788" cy="801050"/>
            <a:chOff x="0" y="0"/>
            <a:chExt cx="24371718" cy="1068066"/>
          </a:xfrm>
        </p:grpSpPr>
        <p:sp>
          <p:nvSpPr>
            <p:cNvPr id="5" name="Freeform 5"/>
            <p:cNvSpPr/>
            <p:nvPr/>
          </p:nvSpPr>
          <p:spPr>
            <a:xfrm>
              <a:off x="0" y="0"/>
              <a:ext cx="24371681" cy="1068070"/>
            </a:xfrm>
            <a:custGeom>
              <a:avLst/>
              <a:gdLst/>
              <a:ahLst/>
              <a:cxnLst/>
              <a:rect l="l" t="t" r="r" b="b"/>
              <a:pathLst>
                <a:path w="24371681" h="1068070">
                  <a:moveTo>
                    <a:pt x="0" y="0"/>
                  </a:moveTo>
                  <a:lnTo>
                    <a:pt x="24371681" y="0"/>
                  </a:lnTo>
                  <a:lnTo>
                    <a:pt x="24371681" y="1068070"/>
                  </a:lnTo>
                  <a:lnTo>
                    <a:pt x="0" y="1068070"/>
                  </a:lnTo>
                  <a:close/>
                </a:path>
              </a:pathLst>
            </a:custGeom>
            <a:solidFill>
              <a:srgbClr val="001C54"/>
            </a:solidFill>
          </p:spPr>
        </p:sp>
      </p:grpSp>
      <p:grpSp>
        <p:nvGrpSpPr>
          <p:cNvPr id="6" name="Group 6"/>
          <p:cNvGrpSpPr/>
          <p:nvPr/>
        </p:nvGrpSpPr>
        <p:grpSpPr>
          <a:xfrm>
            <a:off x="11119709" y="1204891"/>
            <a:ext cx="6139592" cy="6139592"/>
            <a:chOff x="0" y="0"/>
            <a:chExt cx="8186122" cy="8186122"/>
          </a:xfrm>
        </p:grpSpPr>
        <p:sp>
          <p:nvSpPr>
            <p:cNvPr id="7" name="Freeform 7"/>
            <p:cNvSpPr/>
            <p:nvPr/>
          </p:nvSpPr>
          <p:spPr>
            <a:xfrm>
              <a:off x="127000" y="127000"/>
              <a:ext cx="7932166" cy="7932166"/>
            </a:xfrm>
            <a:custGeom>
              <a:avLst/>
              <a:gdLst/>
              <a:ahLst/>
              <a:cxnLst/>
              <a:rect l="l" t="t" r="r" b="b"/>
              <a:pathLst>
                <a:path w="7932166" h="7932166">
                  <a:moveTo>
                    <a:pt x="0" y="3966083"/>
                  </a:moveTo>
                  <a:cubicBezTo>
                    <a:pt x="0" y="1775714"/>
                    <a:pt x="1775714" y="0"/>
                    <a:pt x="3966083" y="0"/>
                  </a:cubicBezTo>
                  <a:cubicBezTo>
                    <a:pt x="6156452" y="0"/>
                    <a:pt x="7932166" y="1775714"/>
                    <a:pt x="7932166" y="3966083"/>
                  </a:cubicBezTo>
                  <a:cubicBezTo>
                    <a:pt x="7932166" y="6156452"/>
                    <a:pt x="6156452" y="7932166"/>
                    <a:pt x="3966083" y="7932166"/>
                  </a:cubicBezTo>
                  <a:cubicBezTo>
                    <a:pt x="1775714" y="7932166"/>
                    <a:pt x="0" y="6156452"/>
                    <a:pt x="0" y="3966083"/>
                  </a:cubicBezTo>
                  <a:close/>
                </a:path>
              </a:pathLst>
            </a:custGeom>
            <a:blipFill>
              <a:blip r:embed="rId1"/>
              <a:stretch>
                <a:fillRect t="-24999" b="-24999"/>
              </a:stretch>
            </a:blipFill>
          </p:spPr>
        </p:sp>
        <p:sp>
          <p:nvSpPr>
            <p:cNvPr id="8" name="Freeform 8"/>
            <p:cNvSpPr/>
            <p:nvPr/>
          </p:nvSpPr>
          <p:spPr>
            <a:xfrm>
              <a:off x="0" y="0"/>
              <a:ext cx="8186166" cy="8186166"/>
            </a:xfrm>
            <a:custGeom>
              <a:avLst/>
              <a:gdLst/>
              <a:ahLst/>
              <a:cxnLst/>
              <a:rect l="l" t="t" r="r" b="b"/>
              <a:pathLst>
                <a:path w="8186166" h="8186166">
                  <a:moveTo>
                    <a:pt x="0" y="4093083"/>
                  </a:moveTo>
                  <a:cubicBezTo>
                    <a:pt x="0" y="1832483"/>
                    <a:pt x="1832483" y="0"/>
                    <a:pt x="4093083" y="0"/>
                  </a:cubicBezTo>
                  <a:lnTo>
                    <a:pt x="4093083" y="127000"/>
                  </a:lnTo>
                  <a:lnTo>
                    <a:pt x="4093083" y="0"/>
                  </a:lnTo>
                  <a:cubicBezTo>
                    <a:pt x="6353556" y="0"/>
                    <a:pt x="8186166" y="1832483"/>
                    <a:pt x="8186166" y="4093083"/>
                  </a:cubicBezTo>
                  <a:lnTo>
                    <a:pt x="8059166" y="4093083"/>
                  </a:lnTo>
                  <a:lnTo>
                    <a:pt x="8186166" y="4093083"/>
                  </a:lnTo>
                  <a:cubicBezTo>
                    <a:pt x="8186166" y="6353556"/>
                    <a:pt x="6353683" y="8186166"/>
                    <a:pt x="4093083" y="8186166"/>
                  </a:cubicBezTo>
                  <a:lnTo>
                    <a:pt x="4093083" y="8059166"/>
                  </a:lnTo>
                  <a:lnTo>
                    <a:pt x="4093083" y="8186166"/>
                  </a:lnTo>
                  <a:cubicBezTo>
                    <a:pt x="1832483" y="8186166"/>
                    <a:pt x="0" y="6353556"/>
                    <a:pt x="0" y="4093083"/>
                  </a:cubicBezTo>
                  <a:lnTo>
                    <a:pt x="127000" y="4093083"/>
                  </a:lnTo>
                  <a:lnTo>
                    <a:pt x="254000" y="4093083"/>
                  </a:lnTo>
                  <a:lnTo>
                    <a:pt x="127000" y="4093083"/>
                  </a:lnTo>
                  <a:lnTo>
                    <a:pt x="0" y="4093083"/>
                  </a:lnTo>
                  <a:moveTo>
                    <a:pt x="254000" y="4093083"/>
                  </a:moveTo>
                  <a:cubicBezTo>
                    <a:pt x="254000" y="4163187"/>
                    <a:pt x="197104" y="4220083"/>
                    <a:pt x="127000" y="4220083"/>
                  </a:cubicBezTo>
                  <a:cubicBezTo>
                    <a:pt x="56896" y="4220083"/>
                    <a:pt x="0" y="4163187"/>
                    <a:pt x="0" y="4093083"/>
                  </a:cubicBezTo>
                  <a:cubicBezTo>
                    <a:pt x="0" y="4022979"/>
                    <a:pt x="56896" y="3966083"/>
                    <a:pt x="127000" y="3966083"/>
                  </a:cubicBezTo>
                  <a:cubicBezTo>
                    <a:pt x="197104" y="3966083"/>
                    <a:pt x="254000" y="4022979"/>
                    <a:pt x="254000" y="4093083"/>
                  </a:cubicBezTo>
                  <a:cubicBezTo>
                    <a:pt x="254000" y="6213348"/>
                    <a:pt x="1972818" y="7932166"/>
                    <a:pt x="4093083" y="7932166"/>
                  </a:cubicBezTo>
                  <a:cubicBezTo>
                    <a:pt x="6213348" y="7932166"/>
                    <a:pt x="7932166" y="6213348"/>
                    <a:pt x="7932166" y="4093083"/>
                  </a:cubicBezTo>
                  <a:cubicBezTo>
                    <a:pt x="7932166" y="1972818"/>
                    <a:pt x="6213348" y="254000"/>
                    <a:pt x="4093083" y="254000"/>
                  </a:cubicBezTo>
                  <a:lnTo>
                    <a:pt x="4093083" y="127000"/>
                  </a:lnTo>
                  <a:lnTo>
                    <a:pt x="4093083" y="254000"/>
                  </a:lnTo>
                  <a:cubicBezTo>
                    <a:pt x="1972818" y="254000"/>
                    <a:pt x="254000" y="1972818"/>
                    <a:pt x="254000" y="4093083"/>
                  </a:cubicBezTo>
                  <a:close/>
                </a:path>
              </a:pathLst>
            </a:custGeom>
            <a:solidFill>
              <a:srgbClr val="FFFFFF"/>
            </a:solidFill>
          </p:spPr>
        </p:sp>
      </p:grpSp>
      <p:sp>
        <p:nvSpPr>
          <p:cNvPr id="17" name="TextBox 17"/>
          <p:cNvSpPr txBox="1"/>
          <p:nvPr/>
        </p:nvSpPr>
        <p:spPr>
          <a:xfrm>
            <a:off x="823818" y="4148914"/>
            <a:ext cx="8223979" cy="466725"/>
          </a:xfrm>
          <a:prstGeom prst="rect">
            <a:avLst/>
          </a:prstGeom>
        </p:spPr>
        <p:txBody>
          <a:bodyPr lIns="0" tIns="0" rIns="0" bIns="0" rtlCol="0" anchor="t">
            <a:spAutoFit/>
          </a:bodyPr>
          <a:lstStyle/>
          <a:p>
            <a:pPr algn="l">
              <a:lnSpc>
                <a:spcPts val="3600"/>
              </a:lnSpc>
            </a:pPr>
            <a:r>
              <a:rPr lang="en-US" sz="3000">
                <a:solidFill>
                  <a:srgbClr val="FFFFFF"/>
                </a:solidFill>
                <a:latin typeface="思源黑体 Light" panose="020B0400000000000000" charset="-122"/>
              </a:rPr>
              <a:t>THANKS FOR LISTENING </a:t>
            </a:r>
            <a:endParaRPr lang="en-US" sz="3000">
              <a:solidFill>
                <a:srgbClr val="FFFFFF"/>
              </a:solidFill>
              <a:latin typeface="思源黑体 Light" panose="020B0400000000000000" charset="-122"/>
            </a:endParaRPr>
          </a:p>
        </p:txBody>
      </p:sp>
      <p:sp>
        <p:nvSpPr>
          <p:cNvPr id="18" name="Freeform 18"/>
          <p:cNvSpPr/>
          <p:nvPr/>
        </p:nvSpPr>
        <p:spPr>
          <a:xfrm>
            <a:off x="148631" y="389818"/>
            <a:ext cx="4890441" cy="1630147"/>
          </a:xfrm>
          <a:custGeom>
            <a:avLst/>
            <a:gdLst/>
            <a:ahLst/>
            <a:cxnLst/>
            <a:rect l="l" t="t" r="r" b="b"/>
            <a:pathLst>
              <a:path w="4890441" h="1630147">
                <a:moveTo>
                  <a:pt x="0" y="0"/>
                </a:moveTo>
                <a:lnTo>
                  <a:pt x="4890441" y="0"/>
                </a:lnTo>
                <a:lnTo>
                  <a:pt x="4890441" y="1630147"/>
                </a:lnTo>
                <a:lnTo>
                  <a:pt x="0" y="1630147"/>
                </a:lnTo>
                <a:lnTo>
                  <a:pt x="0" y="0"/>
                </a:lnTo>
                <a:close/>
              </a:path>
            </a:pathLst>
          </a:custGeom>
          <a:blipFill>
            <a:blip r:embed="rId2"/>
            <a:stretch>
              <a:fillRect/>
            </a:stretch>
          </a:blipFill>
        </p:spPr>
      </p:sp>
    </p:spTree>
  </p:cSld>
  <p:clrMapOvr>
    <a:masterClrMapping/>
  </p:clrMapOvr>
</p:sld>
</file>

<file path=ppt/tags/tag1.xml><?xml version="1.0" encoding="utf-8"?>
<p:tagLst xmlns:p="http://schemas.openxmlformats.org/presentationml/2006/main">
  <p:tag name="COMMONDATA" val="eyJoZGlkIjoiYmVjM2IxYjNlNTBhZDZkYzkxZmNlODQ2MDA1YWY4MT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Words>
  <Application>WPS 演示</Application>
  <PresentationFormat>自定义</PresentationFormat>
  <Paragraphs>19</Paragraphs>
  <Slides>10</Slides>
  <Notes>15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宋体</vt:lpstr>
      <vt:lpstr>Wingdings</vt:lpstr>
      <vt:lpstr>微软雅黑</vt:lpstr>
      <vt:lpstr>思源黑体 Light</vt:lpstr>
      <vt:lpstr>黑体</vt:lpstr>
      <vt:lpstr>思源黑体 Heavy</vt:lpstr>
      <vt:lpstr>Calibri</vt:lpstr>
      <vt:lpstr>Arial Unicode MS</vt:lpstr>
      <vt:lpstr>等线</vt:lpstr>
      <vt:lpstr>思源黑体 Heavy</vt:lpstr>
      <vt:lpstr>思源黑体 Light</vt:lpstr>
      <vt:lpstr>方正宝黑体 简 Light</vt:lpstr>
      <vt:lpstr>方正大黑体_GBK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蓝白色学术论文简洁介绍演示文稿	</dc:title>
  <dc:creator>吴昱</dc:creator>
  <cp:lastModifiedBy>morty</cp:lastModifiedBy>
  <cp:revision>82</cp:revision>
  <dcterms:created xsi:type="dcterms:W3CDTF">2006-08-16T00:00:00Z</dcterms:created>
  <dcterms:modified xsi:type="dcterms:W3CDTF">2026-01-15T12:40:03Z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A58E4C9AC0464DE3BD6801BE901F100B_13</vt:lpwstr>
  </property>
  <property fmtid="{D5CDD505-2E9C-101B-9397-08002B2CF9AE}" pid="3" name="KSOProductBuildVer">
    <vt:lpwstr>2052-12.1.0.24031</vt:lpwstr>
  </property>
</Properties>
</file>
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MiSans" pitchFamily="34" charset="-122"/>
      <p:regular r:id="rId19"/>
    </p:embeddedFont>
    <p:embeddedFont>
      <p:font typeface="MiSans" pitchFamily="34" charset="-120"/>
      <p:regular r:id="rId20"/>
    </p:embeddedFont>
    <p:embeddedFont>
      <p:font typeface="得意黑" pitchFamily="34" charset="-122"/>
      <p:italic r:id="rId21"/>
    </p:embeddedFont>
    <p:embeddedFont>
      <p:font typeface="得意黑" pitchFamily="34" charset="-120"/>
      <p:italic r:id="rId22"/>
    </p:embeddedFont>
    <p:embeddedFont>
      <p:font typeface="微软雅黑" panose="020B0503020204020204" pitchFamily="34" charset="-122"/>
      <p:regular r:id="rId23"/>
    </p:embeddedFont>
    <p:embeddedFont>
      <p:font typeface="微软雅黑" panose="020B05030202040202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1538288"/>
            <a:ext cx="4210050" cy="390525"/>
          </a:xfrm>
          <a:custGeom>
            <a:avLst/>
            <a:gdLst/>
            <a:ahLst/>
            <a:cxnLst/>
            <a:rect l="l" t="t" r="r" b="b"/>
            <a:pathLst>
              <a:path w="4210050" h="390525">
                <a:moveTo>
                  <a:pt x="195263" y="0"/>
                </a:moveTo>
                <a:lnTo>
                  <a:pt x="4014788" y="0"/>
                </a:lnTo>
                <a:cubicBezTo>
                  <a:pt x="4122556" y="0"/>
                  <a:pt x="4210050" y="87494"/>
                  <a:pt x="4210050" y="195263"/>
                </a:cubicBezTo>
                <a:lnTo>
                  <a:pt x="4210050" y="195263"/>
                </a:lnTo>
                <a:cubicBezTo>
                  <a:pt x="4210050" y="303031"/>
                  <a:pt x="4122556" y="390525"/>
                  <a:pt x="40147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1633538"/>
            <a:ext cx="397445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UAV COMMUNICATION DEGRADATION RESEARCH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162175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无人机通信劣化评估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与极限场景生成研究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105275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基于GA-GAN的通信抗干扰测试评估技术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6019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汇报人：周正阳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6248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2026年2月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01400" y="586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9" name="Shape 7"/>
          <p:cNvSpPr/>
          <p:nvPr/>
        </p:nvSpPr>
        <p:spPr>
          <a:xfrm>
            <a:off x="11391900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RESEARCH BACKGROUND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研究背景与核心问题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95400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609600" y="1295400"/>
            <a:ext cx="5467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无人机通信三大特点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167640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三维空间分布特性强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943100"/>
            <a:ext cx="54483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场景复杂、干扰源繁杂，低空到高空呈现不同的干扰特征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30505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 悬停飞行能耗耦合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71750"/>
            <a:ext cx="54483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推进功率与通信功率竞争有限能源，形成能效约束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93370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 频谱功率资源有限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200400"/>
            <a:ext cx="54483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接入链路与回传链路共享资源，SWAP约束显著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9350" y="1295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13" name="Text 11"/>
          <p:cNvSpPr/>
          <p:nvPr/>
        </p:nvSpPr>
        <p:spPr>
          <a:xfrm>
            <a:off x="6438900" y="1295400"/>
            <a:ext cx="5467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静态视角问题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38900" y="167640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路径损耗：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距离与高度的函数，FSPL主导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8900" y="198120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阴影衰落：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建筑物遮挡导致的NLoS传播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8900" y="228600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多径效应：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城市峡谷中的信号反射与叠加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8900" y="2590800"/>
            <a:ext cx="544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干扰耦合：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同频/邻频干扰源的复杂叠加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9350" y="29718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9" name="Text 17"/>
          <p:cNvSpPr/>
          <p:nvPr/>
        </p:nvSpPr>
        <p:spPr>
          <a:xfrm>
            <a:off x="6438900" y="2971800"/>
            <a:ext cx="5467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动态视角问题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8900" y="3352800"/>
            <a:ext cx="54483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无人机空中停留时间有限，能源需同时支撑</a:t>
            </a:r>
            <a:r>
              <a:rPr lang="en-US" sz="1200" dirty="0">
                <a:solidFill>
                  <a:srgbClr val="1D1D1D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悬停 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dirty="0">
                <a:solidFill>
                  <a:srgbClr val="1D1D1D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飞行 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dirty="0">
                <a:solidFill>
                  <a:srgbClr val="1D1D1D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通信 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三大功能，形成通信能效优化问题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22" name="Shape 20"/>
          <p:cNvSpPr/>
          <p:nvPr/>
        </p:nvSpPr>
        <p:spPr>
          <a:xfrm>
            <a:off x="419100" y="62769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3" name="Text 21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核心挑战：</a:t>
            </a: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如何量化评估复杂城市环境下的通信劣化程度，并自动生成极限测试场景？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TECHNICAL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整体技术路线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47800" y="1319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Shape 3"/>
          <p:cNvSpPr/>
          <p:nvPr/>
        </p:nvSpPr>
        <p:spPr>
          <a:xfrm>
            <a:off x="1645444" y="15287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3" y="0"/>
                </a:moveTo>
                <a:cubicBezTo>
                  <a:pt x="105928" y="0"/>
                  <a:pt x="95250" y="10678"/>
                  <a:pt x="95250" y="23812"/>
                </a:cubicBezTo>
                <a:lnTo>
                  <a:pt x="95250" y="35719"/>
                </a:lnTo>
                <a:lnTo>
                  <a:pt x="77391" y="35719"/>
                </a:lnTo>
                <a:lnTo>
                  <a:pt x="77391" y="8930"/>
                </a:lnTo>
                <a:cubicBezTo>
                  <a:pt x="77391" y="3981"/>
                  <a:pt x="73409" y="0"/>
                  <a:pt x="68461" y="0"/>
                </a:cubicBezTo>
                <a:cubicBezTo>
                  <a:pt x="63512" y="0"/>
                  <a:pt x="59531" y="3981"/>
                  <a:pt x="59531" y="8930"/>
                </a:cubicBezTo>
                <a:lnTo>
                  <a:pt x="59531" y="35719"/>
                </a:lnTo>
                <a:lnTo>
                  <a:pt x="35719" y="35719"/>
                </a:lnTo>
                <a:lnTo>
                  <a:pt x="35719" y="8930"/>
                </a:lnTo>
                <a:cubicBezTo>
                  <a:pt x="35719" y="3981"/>
                  <a:pt x="31738" y="0"/>
                  <a:pt x="26789" y="0"/>
                </a:cubicBezTo>
                <a:cubicBezTo>
                  <a:pt x="21841" y="0"/>
                  <a:pt x="17859" y="3981"/>
                  <a:pt x="17859" y="8930"/>
                </a:cubicBezTo>
                <a:lnTo>
                  <a:pt x="17859" y="36463"/>
                </a:lnTo>
                <a:cubicBezTo>
                  <a:pt x="7590" y="39105"/>
                  <a:pt x="0" y="48444"/>
                  <a:pt x="0" y="59531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90500" y="190500"/>
                </a:lnTo>
                <a:cubicBezTo>
                  <a:pt x="203634" y="190500"/>
                  <a:pt x="214313" y="179822"/>
                  <a:pt x="214313" y="166688"/>
                </a:cubicBezTo>
                <a:lnTo>
                  <a:pt x="214313" y="95250"/>
                </a:lnTo>
                <a:cubicBezTo>
                  <a:pt x="214313" y="82116"/>
                  <a:pt x="203634" y="71438"/>
                  <a:pt x="190500" y="71438"/>
                </a:cubicBezTo>
                <a:lnTo>
                  <a:pt x="166688" y="71438"/>
                </a:lnTo>
                <a:lnTo>
                  <a:pt x="166688" y="23812"/>
                </a:lnTo>
                <a:cubicBezTo>
                  <a:pt x="166688" y="10678"/>
                  <a:pt x="156009" y="0"/>
                  <a:pt x="142875" y="0"/>
                </a:cubicBezTo>
                <a:lnTo>
                  <a:pt x="119063" y="0"/>
                </a:lnTo>
                <a:close/>
                <a:moveTo>
                  <a:pt x="142875" y="41672"/>
                </a:moveTo>
                <a:lnTo>
                  <a:pt x="142875" y="53578"/>
                </a:lnTo>
                <a:cubicBezTo>
                  <a:pt x="142875" y="56852"/>
                  <a:pt x="140196" y="59531"/>
                  <a:pt x="136922" y="59531"/>
                </a:cubicBezTo>
                <a:lnTo>
                  <a:pt x="125016" y="59531"/>
                </a:lnTo>
                <a:cubicBezTo>
                  <a:pt x="121741" y="59531"/>
                  <a:pt x="119063" y="56852"/>
                  <a:pt x="119063" y="53578"/>
                </a:cubicBezTo>
                <a:lnTo>
                  <a:pt x="119063" y="41672"/>
                </a:lnTo>
                <a:cubicBezTo>
                  <a:pt x="119063" y="38398"/>
                  <a:pt x="121741" y="35719"/>
                  <a:pt x="125016" y="35719"/>
                </a:cubicBezTo>
                <a:lnTo>
                  <a:pt x="136922" y="35719"/>
                </a:lnTo>
                <a:cubicBezTo>
                  <a:pt x="140196" y="35719"/>
                  <a:pt x="142875" y="38398"/>
                  <a:pt x="142875" y="41672"/>
                </a:cubicBezTo>
                <a:close/>
                <a:moveTo>
                  <a:pt x="136922" y="71438"/>
                </a:moveTo>
                <a:cubicBezTo>
                  <a:pt x="140196" y="71438"/>
                  <a:pt x="142875" y="74116"/>
                  <a:pt x="142875" y="77391"/>
                </a:cubicBezTo>
                <a:lnTo>
                  <a:pt x="142875" y="89297"/>
                </a:lnTo>
                <a:cubicBezTo>
                  <a:pt x="142875" y="92571"/>
                  <a:pt x="140196" y="95250"/>
                  <a:pt x="136922" y="95250"/>
                </a:cubicBezTo>
                <a:lnTo>
                  <a:pt x="125016" y="95250"/>
                </a:lnTo>
                <a:cubicBezTo>
                  <a:pt x="121741" y="95250"/>
                  <a:pt x="119063" y="92571"/>
                  <a:pt x="119063" y="89297"/>
                </a:cubicBezTo>
                <a:lnTo>
                  <a:pt x="119063" y="77391"/>
                </a:lnTo>
                <a:cubicBezTo>
                  <a:pt x="119063" y="74116"/>
                  <a:pt x="121741" y="71438"/>
                  <a:pt x="125016" y="71438"/>
                </a:cubicBezTo>
                <a:lnTo>
                  <a:pt x="136922" y="71438"/>
                </a:lnTo>
                <a:close/>
                <a:moveTo>
                  <a:pt x="142875" y="113109"/>
                </a:moveTo>
                <a:lnTo>
                  <a:pt x="142875" y="125016"/>
                </a:lnTo>
                <a:cubicBezTo>
                  <a:pt x="142875" y="128290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28290"/>
                  <a:pt x="119063" y="125016"/>
                </a:cubicBezTo>
                <a:lnTo>
                  <a:pt x="119063" y="113109"/>
                </a:lnTo>
                <a:cubicBezTo>
                  <a:pt x="119063" y="109835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9835"/>
                  <a:pt x="142875" y="113109"/>
                </a:cubicBezTo>
                <a:close/>
                <a:moveTo>
                  <a:pt x="184547" y="107156"/>
                </a:moveTo>
                <a:cubicBezTo>
                  <a:pt x="187821" y="107156"/>
                  <a:pt x="190500" y="109835"/>
                  <a:pt x="190500" y="113109"/>
                </a:cubicBezTo>
                <a:lnTo>
                  <a:pt x="190500" y="125016"/>
                </a:lnTo>
                <a:cubicBezTo>
                  <a:pt x="190500" y="128290"/>
                  <a:pt x="187821" y="130969"/>
                  <a:pt x="184547" y="130969"/>
                </a:cubicBezTo>
                <a:lnTo>
                  <a:pt x="172641" y="130969"/>
                </a:lnTo>
                <a:cubicBezTo>
                  <a:pt x="169366" y="130969"/>
                  <a:pt x="166688" y="128290"/>
                  <a:pt x="166688" y="125016"/>
                </a:cubicBezTo>
                <a:lnTo>
                  <a:pt x="166688" y="113109"/>
                </a:lnTo>
                <a:cubicBezTo>
                  <a:pt x="166688" y="109835"/>
                  <a:pt x="169366" y="107156"/>
                  <a:pt x="172641" y="107156"/>
                </a:cubicBezTo>
                <a:lnTo>
                  <a:pt x="184547" y="107156"/>
                </a:lnTo>
                <a:close/>
                <a:moveTo>
                  <a:pt x="95250" y="113109"/>
                </a:moveTo>
                <a:lnTo>
                  <a:pt x="95250" y="125016"/>
                </a:lnTo>
                <a:cubicBezTo>
                  <a:pt x="95250" y="128290"/>
                  <a:pt x="92571" y="130969"/>
                  <a:pt x="89297" y="130969"/>
                </a:cubicBezTo>
                <a:lnTo>
                  <a:pt x="77391" y="130969"/>
                </a:lnTo>
                <a:cubicBezTo>
                  <a:pt x="74116" y="130969"/>
                  <a:pt x="71438" y="128290"/>
                  <a:pt x="71438" y="125016"/>
                </a:cubicBezTo>
                <a:lnTo>
                  <a:pt x="71438" y="113109"/>
                </a:lnTo>
                <a:cubicBezTo>
                  <a:pt x="71438" y="109835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9835"/>
                  <a:pt x="95250" y="113109"/>
                </a:cubicBezTo>
                <a:close/>
                <a:moveTo>
                  <a:pt x="89297" y="71438"/>
                </a:moveTo>
                <a:cubicBezTo>
                  <a:pt x="92571" y="71438"/>
                  <a:pt x="95250" y="74116"/>
                  <a:pt x="95250" y="77391"/>
                </a:cubicBezTo>
                <a:lnTo>
                  <a:pt x="95250" y="89297"/>
                </a:lnTo>
                <a:cubicBezTo>
                  <a:pt x="95250" y="92571"/>
                  <a:pt x="92571" y="95250"/>
                  <a:pt x="89297" y="95250"/>
                </a:cubicBezTo>
                <a:lnTo>
                  <a:pt x="77391" y="95250"/>
                </a:lnTo>
                <a:cubicBezTo>
                  <a:pt x="74116" y="95250"/>
                  <a:pt x="71438" y="92571"/>
                  <a:pt x="71438" y="89297"/>
                </a:cubicBezTo>
                <a:lnTo>
                  <a:pt x="71438" y="77391"/>
                </a:lnTo>
                <a:cubicBezTo>
                  <a:pt x="71438" y="74116"/>
                  <a:pt x="74116" y="71438"/>
                  <a:pt x="77391" y="71438"/>
                </a:cubicBezTo>
                <a:lnTo>
                  <a:pt x="89297" y="71438"/>
                </a:lnTo>
                <a:close/>
                <a:moveTo>
                  <a:pt x="47625" y="113109"/>
                </a:moveTo>
                <a:lnTo>
                  <a:pt x="47625" y="125016"/>
                </a:lnTo>
                <a:cubicBezTo>
                  <a:pt x="47625" y="128290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28290"/>
                  <a:pt x="23812" y="125016"/>
                </a:cubicBezTo>
                <a:lnTo>
                  <a:pt x="23812" y="113109"/>
                </a:lnTo>
                <a:cubicBezTo>
                  <a:pt x="23812" y="109835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9835"/>
                  <a:pt x="47625" y="113109"/>
                </a:cubicBezTo>
                <a:close/>
                <a:moveTo>
                  <a:pt x="41672" y="71438"/>
                </a:moveTo>
                <a:cubicBezTo>
                  <a:pt x="44946" y="71438"/>
                  <a:pt x="47625" y="74116"/>
                  <a:pt x="47625" y="77391"/>
                </a:cubicBezTo>
                <a:lnTo>
                  <a:pt x="47625" y="89297"/>
                </a:lnTo>
                <a:cubicBezTo>
                  <a:pt x="47625" y="92571"/>
                  <a:pt x="44946" y="95250"/>
                  <a:pt x="41672" y="95250"/>
                </a:cubicBezTo>
                <a:lnTo>
                  <a:pt x="29766" y="95250"/>
                </a:lnTo>
                <a:cubicBezTo>
                  <a:pt x="26491" y="95250"/>
                  <a:pt x="23812" y="92571"/>
                  <a:pt x="23812" y="89297"/>
                </a:cubicBezTo>
                <a:lnTo>
                  <a:pt x="23812" y="77391"/>
                </a:lnTo>
                <a:cubicBezTo>
                  <a:pt x="23812" y="74116"/>
                  <a:pt x="26491" y="71438"/>
                  <a:pt x="29766" y="71438"/>
                </a:cubicBezTo>
                <a:lnTo>
                  <a:pt x="41672" y="7143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338138" y="2043113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城市环境建模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2900" y="2386013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ITU参数生成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建筑物分布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语义层分类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319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9" name="Shape 7"/>
          <p:cNvSpPr/>
          <p:nvPr/>
        </p:nvSpPr>
        <p:spPr>
          <a:xfrm>
            <a:off x="4541044" y="15287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3233738" y="2043113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干扰源建模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38500" y="2386013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多类型干扰源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PPP随机生成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功率标定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0" y="1319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3" name="Shape 11"/>
          <p:cNvSpPr/>
          <p:nvPr/>
        </p:nvSpPr>
        <p:spPr>
          <a:xfrm>
            <a:off x="7448550" y="15287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1570" y="20836"/>
                </a:moveTo>
                <a:cubicBezTo>
                  <a:pt x="181570" y="15887"/>
                  <a:pt x="177589" y="11906"/>
                  <a:pt x="172641" y="11906"/>
                </a:cubicBezTo>
                <a:cubicBezTo>
                  <a:pt x="167692" y="11906"/>
                  <a:pt x="163711" y="15887"/>
                  <a:pt x="163711" y="20836"/>
                </a:cubicBezTo>
                <a:lnTo>
                  <a:pt x="163711" y="169664"/>
                </a:lnTo>
                <a:cubicBezTo>
                  <a:pt x="163711" y="174613"/>
                  <a:pt x="167692" y="178594"/>
                  <a:pt x="172641" y="178594"/>
                </a:cubicBezTo>
                <a:cubicBezTo>
                  <a:pt x="177589" y="178594"/>
                  <a:pt x="181570" y="174613"/>
                  <a:pt x="181570" y="169664"/>
                </a:cubicBezTo>
                <a:lnTo>
                  <a:pt x="181570" y="20836"/>
                </a:lnTo>
                <a:close/>
                <a:moveTo>
                  <a:pt x="133945" y="47625"/>
                </a:moveTo>
                <a:cubicBezTo>
                  <a:pt x="128997" y="47625"/>
                  <a:pt x="125016" y="51606"/>
                  <a:pt x="125016" y="56555"/>
                </a:cubicBezTo>
                <a:lnTo>
                  <a:pt x="125016" y="169664"/>
                </a:lnTo>
                <a:cubicBezTo>
                  <a:pt x="125016" y="174613"/>
                  <a:pt x="128997" y="178594"/>
                  <a:pt x="133945" y="178594"/>
                </a:cubicBezTo>
                <a:cubicBezTo>
                  <a:pt x="138894" y="178594"/>
                  <a:pt x="142875" y="174613"/>
                  <a:pt x="142875" y="169664"/>
                </a:cubicBezTo>
                <a:lnTo>
                  <a:pt x="142875" y="56555"/>
                </a:lnTo>
                <a:cubicBezTo>
                  <a:pt x="142875" y="51606"/>
                  <a:pt x="138894" y="47625"/>
                  <a:pt x="133945" y="47625"/>
                </a:cubicBezTo>
                <a:close/>
                <a:moveTo>
                  <a:pt x="104180" y="92273"/>
                </a:moveTo>
                <a:cubicBezTo>
                  <a:pt x="104180" y="87325"/>
                  <a:pt x="100199" y="83344"/>
                  <a:pt x="95250" y="83344"/>
                </a:cubicBezTo>
                <a:cubicBezTo>
                  <a:pt x="90301" y="83344"/>
                  <a:pt x="86320" y="87325"/>
                  <a:pt x="86320" y="92273"/>
                </a:cubicBezTo>
                <a:lnTo>
                  <a:pt x="86320" y="169664"/>
                </a:lnTo>
                <a:cubicBezTo>
                  <a:pt x="86320" y="174613"/>
                  <a:pt x="90301" y="178594"/>
                  <a:pt x="95250" y="178594"/>
                </a:cubicBezTo>
                <a:cubicBezTo>
                  <a:pt x="100199" y="178594"/>
                  <a:pt x="104180" y="174613"/>
                  <a:pt x="104180" y="169664"/>
                </a:cubicBezTo>
                <a:lnTo>
                  <a:pt x="104180" y="92273"/>
                </a:lnTo>
                <a:close/>
                <a:moveTo>
                  <a:pt x="56555" y="119063"/>
                </a:moveTo>
                <a:cubicBezTo>
                  <a:pt x="51606" y="119063"/>
                  <a:pt x="47625" y="123044"/>
                  <a:pt x="47625" y="127992"/>
                </a:cubicBezTo>
                <a:lnTo>
                  <a:pt x="47625" y="169664"/>
                </a:lnTo>
                <a:cubicBezTo>
                  <a:pt x="47625" y="174613"/>
                  <a:pt x="51606" y="178594"/>
                  <a:pt x="56555" y="178594"/>
                </a:cubicBezTo>
                <a:cubicBezTo>
                  <a:pt x="61503" y="178594"/>
                  <a:pt x="65484" y="174613"/>
                  <a:pt x="65484" y="169664"/>
                </a:cubicBezTo>
                <a:lnTo>
                  <a:pt x="65484" y="127992"/>
                </a:lnTo>
                <a:cubicBezTo>
                  <a:pt x="65484" y="123044"/>
                  <a:pt x="61503" y="119063"/>
                  <a:pt x="56555" y="119063"/>
                </a:cubicBezTo>
                <a:close/>
                <a:moveTo>
                  <a:pt x="17859" y="142875"/>
                </a:moveTo>
                <a:cubicBezTo>
                  <a:pt x="12911" y="142875"/>
                  <a:pt x="8930" y="146856"/>
                  <a:pt x="8930" y="151805"/>
                </a:cubicBezTo>
                <a:lnTo>
                  <a:pt x="8930" y="169664"/>
                </a:lnTo>
                <a:cubicBezTo>
                  <a:pt x="8930" y="174613"/>
                  <a:pt x="12911" y="178594"/>
                  <a:pt x="17859" y="178594"/>
                </a:cubicBezTo>
                <a:cubicBezTo>
                  <a:pt x="22808" y="178594"/>
                  <a:pt x="26789" y="174613"/>
                  <a:pt x="26789" y="169664"/>
                </a:cubicBezTo>
                <a:lnTo>
                  <a:pt x="26789" y="151805"/>
                </a:lnTo>
                <a:cubicBezTo>
                  <a:pt x="26789" y="146856"/>
                  <a:pt x="22808" y="142875"/>
                  <a:pt x="17859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6129338" y="2043113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通信链路建模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34100" y="2386013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路径损耗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LoS/NLoS判定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SINR计算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34600" y="1319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7" name="Shape 15"/>
          <p:cNvSpPr/>
          <p:nvPr/>
        </p:nvSpPr>
        <p:spPr>
          <a:xfrm>
            <a:off x="10367963" y="15287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9024938" y="2043113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劣化评估公式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29700" y="2386013"/>
            <a:ext cx="2819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Margin模型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CDI模型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速度能效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91225" y="330041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1" name="Shape 19"/>
          <p:cNvSpPr/>
          <p:nvPr/>
        </p:nvSpPr>
        <p:spPr>
          <a:xfrm>
            <a:off x="390525" y="3824288"/>
            <a:ext cx="3686175" cy="2000250"/>
          </a:xfrm>
          <a:custGeom>
            <a:avLst/>
            <a:gdLst/>
            <a:ahLst/>
            <a:cxnLst/>
            <a:rect l="l" t="t" r="r" b="b"/>
            <a:pathLst>
              <a:path w="3686175" h="2000250">
                <a:moveTo>
                  <a:pt x="76210" y="0"/>
                </a:moveTo>
                <a:lnTo>
                  <a:pt x="3609965" y="0"/>
                </a:lnTo>
                <a:cubicBezTo>
                  <a:pt x="3652055" y="0"/>
                  <a:pt x="3686175" y="34120"/>
                  <a:pt x="3686175" y="76210"/>
                </a:cubicBezTo>
                <a:lnTo>
                  <a:pt x="3686175" y="1924040"/>
                </a:lnTo>
                <a:cubicBezTo>
                  <a:pt x="3686175" y="1966130"/>
                  <a:pt x="3652055" y="2000250"/>
                  <a:pt x="3609965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8475" y="39862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2163738" y="41576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30969" y="0"/>
                </a:moveTo>
                <a:cubicBezTo>
                  <a:pt x="137554" y="0"/>
                  <a:pt x="142875" y="5321"/>
                  <a:pt x="142875" y="11906"/>
                </a:cubicBezTo>
                <a:cubicBezTo>
                  <a:pt x="142875" y="33412"/>
                  <a:pt x="133796" y="50899"/>
                  <a:pt x="121518" y="65670"/>
                </a:cubicBezTo>
                <a:cubicBezTo>
                  <a:pt x="112551" y="76423"/>
                  <a:pt x="101501" y="86171"/>
                  <a:pt x="90413" y="95250"/>
                </a:cubicBezTo>
                <a:cubicBezTo>
                  <a:pt x="101501" y="104366"/>
                  <a:pt x="112551" y="114077"/>
                  <a:pt x="121518" y="124830"/>
                </a:cubicBezTo>
                <a:cubicBezTo>
                  <a:pt x="133796" y="139564"/>
                  <a:pt x="142875" y="157088"/>
                  <a:pt x="142875" y="178594"/>
                </a:cubicBezTo>
                <a:cubicBezTo>
                  <a:pt x="142875" y="185179"/>
                  <a:pt x="137554" y="190500"/>
                  <a:pt x="130969" y="190500"/>
                </a:cubicBezTo>
                <a:cubicBezTo>
                  <a:pt x="124383" y="190500"/>
                  <a:pt x="119063" y="185179"/>
                  <a:pt x="119063" y="178594"/>
                </a:cubicBez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cubicBezTo>
                  <a:pt x="0" y="157088"/>
                  <a:pt x="9079" y="139601"/>
                  <a:pt x="21357" y="124830"/>
                </a:cubicBezTo>
                <a:cubicBezTo>
                  <a:pt x="30324" y="114077"/>
                  <a:pt x="41374" y="104366"/>
                  <a:pt x="52462" y="95250"/>
                </a:cubicBezTo>
                <a:cubicBezTo>
                  <a:pt x="41374" y="86134"/>
                  <a:pt x="30324" y="76423"/>
                  <a:pt x="21357" y="65670"/>
                </a:cubicBezTo>
                <a:cubicBezTo>
                  <a:pt x="9079" y="50899"/>
                  <a:pt x="0" y="33412"/>
                  <a:pt x="0" y="11906"/>
                </a:cubicBez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119063" y="11906"/>
                </a:lnTo>
                <a:cubicBezTo>
                  <a:pt x="119063" y="5321"/>
                  <a:pt x="124383" y="0"/>
                  <a:pt x="130969" y="0"/>
                </a:cubicBezTo>
                <a:close/>
                <a:moveTo>
                  <a:pt x="105482" y="142875"/>
                </a:moveTo>
                <a:lnTo>
                  <a:pt x="37430" y="142875"/>
                </a:lnTo>
                <a:cubicBezTo>
                  <a:pt x="34379" y="146782"/>
                  <a:pt x="31812" y="150726"/>
                  <a:pt x="29766" y="154781"/>
                </a:cubicBezTo>
                <a:lnTo>
                  <a:pt x="113184" y="154781"/>
                </a:lnTo>
                <a:cubicBezTo>
                  <a:pt x="111100" y="150726"/>
                  <a:pt x="108533" y="146782"/>
                  <a:pt x="105519" y="142875"/>
                </a:cubicBezTo>
                <a:close/>
                <a:moveTo>
                  <a:pt x="88553" y="125016"/>
                </a:moveTo>
                <a:cubicBezTo>
                  <a:pt x="83232" y="120179"/>
                  <a:pt x="77465" y="115416"/>
                  <a:pt x="71438" y="110505"/>
                </a:cubicBezTo>
                <a:cubicBezTo>
                  <a:pt x="65410" y="115379"/>
                  <a:pt x="59643" y="120179"/>
                  <a:pt x="54322" y="125016"/>
                </a:cubicBezTo>
                <a:lnTo>
                  <a:pt x="88553" y="125016"/>
                </a:lnTo>
                <a:close/>
                <a:moveTo>
                  <a:pt x="37393" y="47625"/>
                </a:moveTo>
                <a:lnTo>
                  <a:pt x="105445" y="47625"/>
                </a:lnTo>
                <a:cubicBezTo>
                  <a:pt x="108496" y="43718"/>
                  <a:pt x="111063" y="39774"/>
                  <a:pt x="113109" y="35719"/>
                </a:cubicBezTo>
                <a:lnTo>
                  <a:pt x="29728" y="35719"/>
                </a:lnTo>
                <a:cubicBezTo>
                  <a:pt x="31812" y="39774"/>
                  <a:pt x="34379" y="43718"/>
                  <a:pt x="37393" y="47625"/>
                </a:cubicBezTo>
                <a:close/>
                <a:moveTo>
                  <a:pt x="54322" y="65484"/>
                </a:moveTo>
                <a:cubicBezTo>
                  <a:pt x="59643" y="70321"/>
                  <a:pt x="65410" y="75084"/>
                  <a:pt x="71438" y="79995"/>
                </a:cubicBezTo>
                <a:cubicBezTo>
                  <a:pt x="77465" y="75121"/>
                  <a:pt x="83232" y="70321"/>
                  <a:pt x="88553" y="65484"/>
                </a:cubicBezTo>
                <a:lnTo>
                  <a:pt x="54322" y="65484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4" name="Text 22"/>
          <p:cNvSpPr/>
          <p:nvPr/>
        </p:nvSpPr>
        <p:spPr>
          <a:xfrm>
            <a:off x="509587" y="4633913"/>
            <a:ext cx="344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GA优化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4350" y="4976813"/>
            <a:ext cx="34385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遗传算法搜索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极限劣化场景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染色体编码优化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1275" y="3824288"/>
            <a:ext cx="3686175" cy="2000250"/>
          </a:xfrm>
          <a:custGeom>
            <a:avLst/>
            <a:gdLst/>
            <a:ahLst/>
            <a:cxnLst/>
            <a:rect l="l" t="t" r="r" b="b"/>
            <a:pathLst>
              <a:path w="3686175" h="2000250">
                <a:moveTo>
                  <a:pt x="76210" y="0"/>
                </a:moveTo>
                <a:lnTo>
                  <a:pt x="3609965" y="0"/>
                </a:lnTo>
                <a:cubicBezTo>
                  <a:pt x="3652055" y="0"/>
                  <a:pt x="3686175" y="34120"/>
                  <a:pt x="3686175" y="76210"/>
                </a:cubicBezTo>
                <a:lnTo>
                  <a:pt x="3686175" y="1924040"/>
                </a:lnTo>
                <a:cubicBezTo>
                  <a:pt x="3686175" y="1966130"/>
                  <a:pt x="3652055" y="2000250"/>
                  <a:pt x="3609965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29226" y="39862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000676" y="41576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9" name="Text 27"/>
          <p:cNvSpPr/>
          <p:nvPr/>
        </p:nvSpPr>
        <p:spPr>
          <a:xfrm>
            <a:off x="4370338" y="4633913"/>
            <a:ext cx="344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GAN生成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75100" y="4976813"/>
            <a:ext cx="34385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对抗网络学习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场景分布特征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快速生成样本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12100" y="3824288"/>
            <a:ext cx="3686175" cy="2000250"/>
          </a:xfrm>
          <a:custGeom>
            <a:avLst/>
            <a:gdLst/>
            <a:ahLst/>
            <a:cxnLst/>
            <a:rect l="l" t="t" r="r" b="b"/>
            <a:pathLst>
              <a:path w="3686175" h="2000250">
                <a:moveTo>
                  <a:pt x="76210" y="0"/>
                </a:moveTo>
                <a:lnTo>
                  <a:pt x="3609965" y="0"/>
                </a:lnTo>
                <a:cubicBezTo>
                  <a:pt x="3652055" y="0"/>
                  <a:pt x="3686175" y="34120"/>
                  <a:pt x="3686175" y="76210"/>
                </a:cubicBezTo>
                <a:lnTo>
                  <a:pt x="3686175" y="1924040"/>
                </a:lnTo>
                <a:cubicBezTo>
                  <a:pt x="3686175" y="1966130"/>
                  <a:pt x="3652055" y="2000250"/>
                  <a:pt x="3609965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0050" y="39862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9861500" y="41576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4" name="Text 32"/>
          <p:cNvSpPr/>
          <p:nvPr/>
        </p:nvSpPr>
        <p:spPr>
          <a:xfrm>
            <a:off x="8231163" y="4633913"/>
            <a:ext cx="3448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对比验证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35925" y="4976813"/>
            <a:ext cx="34385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GA/GAN/Random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多指标统计对比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方法有效性验证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7" name="Shape 35"/>
          <p:cNvSpPr/>
          <p:nvPr/>
        </p:nvSpPr>
        <p:spPr>
          <a:xfrm>
            <a:off x="390525" y="627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86868B"/>
          </a:solidFill>
        </p:spPr>
      </p:sp>
      <p:sp>
        <p:nvSpPr>
          <p:cNvPr id="38" name="Text 36"/>
          <p:cNvSpPr/>
          <p:nvPr/>
        </p:nvSpPr>
        <p:spPr>
          <a:xfrm>
            <a:off x="628650" y="62484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核心代码：UAV_GA.py | gan_uav_pipeline.py | compare_random_ga_gan.py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9998" y="6276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86868B"/>
          </a:solidFill>
        </p:spPr>
      </p:sp>
      <p:sp>
        <p:nvSpPr>
          <p:cNvPr id="40" name="Text 38"/>
          <p:cNvSpPr/>
          <p:nvPr/>
        </p:nvSpPr>
        <p:spPr>
          <a:xfrm>
            <a:off x="9258598" y="6248400"/>
            <a:ext cx="262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技术栈：Python + Geatpy + PyTorch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URBAN MODELING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城市场景建模：ITU参数化方法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38100" cy="3581400"/>
          </a:xfrm>
          <a:custGeom>
            <a:avLst/>
            <a:gdLst/>
            <a:ahLst/>
            <a:cxnLst/>
            <a:rect l="l" t="t" r="r" b="b"/>
            <a:pathLst>
              <a:path w="38100" h="3581400">
                <a:moveTo>
                  <a:pt x="0" y="0"/>
                </a:moveTo>
                <a:lnTo>
                  <a:pt x="38100" y="0"/>
                </a:lnTo>
                <a:lnTo>
                  <a:pt x="3810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571500" y="1219200"/>
            <a:ext cx="4381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ITU城市统计参数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" y="1600200"/>
            <a:ext cx="4286250" cy="990600"/>
          </a:xfrm>
          <a:custGeom>
            <a:avLst/>
            <a:gdLst/>
            <a:ahLst/>
            <a:cxnLst/>
            <a:rect l="l" t="t" r="r" b="b"/>
            <a:pathLst>
              <a:path w="4286250" h="990600">
                <a:moveTo>
                  <a:pt x="76197" y="0"/>
                </a:moveTo>
                <a:lnTo>
                  <a:pt x="4210053" y="0"/>
                </a:lnTo>
                <a:cubicBezTo>
                  <a:pt x="4252135" y="0"/>
                  <a:pt x="4286250" y="34115"/>
                  <a:pt x="4286250" y="76197"/>
                </a:cubicBezTo>
                <a:lnTo>
                  <a:pt x="4286250" y="914403"/>
                </a:lnTo>
                <a:cubicBezTo>
                  <a:pt x="4286250" y="956485"/>
                  <a:pt x="4252135" y="990600"/>
                  <a:pt x="42100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85800" y="17145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 (alpha)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812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建筑覆盖率 0~1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2479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控制城市密集程度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705100"/>
            <a:ext cx="4286250" cy="990600"/>
          </a:xfrm>
          <a:custGeom>
            <a:avLst/>
            <a:gdLst/>
            <a:ahLst/>
            <a:cxnLst/>
            <a:rect l="l" t="t" r="r" b="b"/>
            <a:pathLst>
              <a:path w="4286250" h="990600">
                <a:moveTo>
                  <a:pt x="76197" y="0"/>
                </a:moveTo>
                <a:lnTo>
                  <a:pt x="4210053" y="0"/>
                </a:lnTo>
                <a:cubicBezTo>
                  <a:pt x="4252135" y="0"/>
                  <a:pt x="4286250" y="34115"/>
                  <a:pt x="4286250" y="76197"/>
                </a:cubicBezTo>
                <a:lnTo>
                  <a:pt x="4286250" y="914403"/>
                </a:lnTo>
                <a:cubicBezTo>
                  <a:pt x="4286250" y="956485"/>
                  <a:pt x="4252135" y="990600"/>
                  <a:pt x="42100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85800" y="28194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β (beta)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0861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建筑密度 buildings/km²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3528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决定建筑物数量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810000"/>
            <a:ext cx="4286250" cy="990600"/>
          </a:xfrm>
          <a:custGeom>
            <a:avLst/>
            <a:gdLst/>
            <a:ahLst/>
            <a:cxnLst/>
            <a:rect l="l" t="t" r="r" b="b"/>
            <a:pathLst>
              <a:path w="4286250" h="990600">
                <a:moveTo>
                  <a:pt x="76197" y="0"/>
                </a:moveTo>
                <a:lnTo>
                  <a:pt x="4210053" y="0"/>
                </a:lnTo>
                <a:cubicBezTo>
                  <a:pt x="4252135" y="0"/>
                  <a:pt x="4286250" y="34115"/>
                  <a:pt x="4286250" y="76197"/>
                </a:cubicBezTo>
                <a:lnTo>
                  <a:pt x="4286250" y="914403"/>
                </a:lnTo>
                <a:cubicBezTo>
                  <a:pt x="4286250" y="956485"/>
                  <a:pt x="4252135" y="990600"/>
                  <a:pt x="421005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85800" y="39243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γ (gamma)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1910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高度分布尺度参数(m)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457700"/>
            <a:ext cx="4133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Rayleigh分布尺度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32995" y="12192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19" name="Text 17"/>
          <p:cNvSpPr/>
          <p:nvPr/>
        </p:nvSpPr>
        <p:spPr>
          <a:xfrm>
            <a:off x="5204445" y="1219200"/>
            <a:ext cx="6705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建筑物生成算法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04445" y="1600200"/>
            <a:ext cx="6686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高度生成：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 ~ Rayleigh(γ)，裁剪至[5, building_height_max]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4445" y="1905000"/>
            <a:ext cx="6686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平面尺寸：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基于目标占地面积α·Area/num_buildings，随机扰动±40%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445" y="2209800"/>
            <a:ext cx="6686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位置分布：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区域内均匀随机，确保建筑物不越界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04445" y="2514600"/>
            <a:ext cx="6686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几何参数：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 = 1000·√(α/β), S = (1000/√β)·(1-√α)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32995" y="28956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5" name="Text 23"/>
          <p:cNvSpPr/>
          <p:nvPr/>
        </p:nvSpPr>
        <p:spPr>
          <a:xfrm>
            <a:off x="5204445" y="2895600"/>
            <a:ext cx="6705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语义层分类与LoS判定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04445" y="32766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语义标签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04445" y="35814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street, sidewalk, ground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04445" y="38100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roof, indoor, air, pole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64835" y="32766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LoS判定方法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64835" y="35814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几何法：线段-建筑体相交检测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64835" y="38100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概率法：P_LoS(θ) = 1/(1+C·exp(-B(θ-C)))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04445" y="4152900"/>
            <a:ext cx="6610350" cy="457200"/>
          </a:xfrm>
          <a:custGeom>
            <a:avLst/>
            <a:gdLst/>
            <a:ahLst/>
            <a:cxnLst/>
            <a:rect l="l" t="t" r="r" b="b"/>
            <a:pathLst>
              <a:path w="6610350" h="457200">
                <a:moveTo>
                  <a:pt x="76202" y="0"/>
                </a:moveTo>
                <a:lnTo>
                  <a:pt x="6534148" y="0"/>
                </a:lnTo>
                <a:cubicBezTo>
                  <a:pt x="6576233" y="0"/>
                  <a:pt x="6610350" y="34117"/>
                  <a:pt x="6610350" y="76202"/>
                </a:cubicBezTo>
                <a:lnTo>
                  <a:pt x="6610350" y="380998"/>
                </a:lnTo>
                <a:cubicBezTo>
                  <a:pt x="6610350" y="423083"/>
                  <a:pt x="6576233" y="457200"/>
                  <a:pt x="65341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5318745" y="4267200"/>
            <a:ext cx="645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空间索引加速：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网格化建筑索引，快速判定遮挡关系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5" name="Shape 33"/>
          <p:cNvSpPr/>
          <p:nvPr/>
        </p:nvSpPr>
        <p:spPr>
          <a:xfrm>
            <a:off x="390525" y="627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6" name="Text 34"/>
          <p:cNvSpPr/>
          <p:nvPr/>
        </p:nvSpPr>
        <p:spPr>
          <a:xfrm>
            <a:off x="628650" y="6248400"/>
            <a:ext cx="1581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_generate_buildings()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372990" y="627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8" name="Text 36"/>
          <p:cNvSpPr/>
          <p:nvPr/>
        </p:nvSpPr>
        <p:spPr>
          <a:xfrm>
            <a:off x="2611115" y="62484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_generate_semantic_layers()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34458" y="627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0" name="Text 38"/>
          <p:cNvSpPr/>
          <p:nvPr/>
        </p:nvSpPr>
        <p:spPr>
          <a:xfrm>
            <a:off x="5072583" y="62484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is_los() / _is_segment_blocked_by_buildings()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INTERFERENCE SOURCE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干扰源标定与生成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81000" y="1219200"/>
          <a:ext cx="11430000" cy="3124200"/>
        </p:xfrm>
        <a:graphic>
          <a:graphicData uri="http://schemas.openxmlformats.org/drawingml/2006/table">
            <a:tbl>
              <a:tblPr/>
              <a:tblGrid>
                <a:gridCol w="2084238"/>
                <a:gridCol w="2474438"/>
                <a:gridCol w="1941482"/>
                <a:gridCol w="2150858"/>
                <a:gridCol w="2778984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频段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功率范围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高度分布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语义约束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WiFi 2.4G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2.40-2.48 GHz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5-25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building_low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indoor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WiFi 5.8G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5.72-5.85 GHz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8-25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building_low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indoor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4G基站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2.6 GHz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40-55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building_top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roof, tower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5G基站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3.4-3.8 GHz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20-46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building_top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roof, pole, tower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GNSS干扰机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1.575 GHz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20-43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ground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street, sidewalk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工业设备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902-928 MHz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25-45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building_mid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indoor, ground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卫星地面站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14.0-14.5 GHz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50-70 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ground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ground, roof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0050" y="44958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4" name="Text 3"/>
          <p:cNvSpPr/>
          <p:nvPr/>
        </p:nvSpPr>
        <p:spPr>
          <a:xfrm>
            <a:off x="571500" y="4495800"/>
            <a:ext cx="553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背景干扰源PPP生成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48387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2D PPP：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λ (sources/km²) × Area → Poisson(n)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51435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3D PPP：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ρ (sources/m³) × Z × 1e6 → 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" y="54483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位置混合：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ground/rooftop/indoor按类型权重分布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57531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楼层离散化：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 = (floor-1)·H + device_height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91250" y="44958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12" name="Text 9"/>
          <p:cNvSpPr/>
          <p:nvPr/>
        </p:nvSpPr>
        <p:spPr>
          <a:xfrm>
            <a:off x="6362700" y="4495800"/>
            <a:ext cx="553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场景一致性约束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62700" y="48387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语义约束Γ(type)：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每类干扰源允许出现的场景集合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62700" y="51435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重采样策略：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若生成位置不满足约束，重新采样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62700" y="54483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投影策略：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将位置投影到最近的合法语义区域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62700" y="57531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避免落楼：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地面源不可落在建筑平面投影内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18" name="Shape 15"/>
          <p:cNvSpPr/>
          <p:nvPr/>
        </p:nvSpPr>
        <p:spPr>
          <a:xfrm>
            <a:off x="400050" y="6276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9" name="Text 16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功率标定基于FCC、ETSI等标准文档，EIRP-equivalent口径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PATH LOSS &amp; INTERFERENCE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路径损耗与干扰功率计算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38100" cy="3352800"/>
          </a:xfrm>
          <a:custGeom>
            <a:avLst/>
            <a:gdLst/>
            <a:ahLst/>
            <a:cxnLst/>
            <a:rect l="l" t="t" r="r" b="b"/>
            <a:pathLst>
              <a:path w="38100" h="3352800">
                <a:moveTo>
                  <a:pt x="0" y="0"/>
                </a:moveTo>
                <a:lnTo>
                  <a:pt x="38100" y="0"/>
                </a:lnTo>
                <a:lnTo>
                  <a:pt x="381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571500" y="1219200"/>
            <a:ext cx="554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路径损耗模型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" y="1600200"/>
            <a:ext cx="5448300" cy="762000"/>
          </a:xfrm>
          <a:custGeom>
            <a:avLst/>
            <a:gdLst/>
            <a:ahLst/>
            <a:cxnLst/>
            <a:rect l="l" t="t" r="r" b="b"/>
            <a:pathLst>
              <a:path w="5448300" h="762000">
                <a:moveTo>
                  <a:pt x="76200" y="0"/>
                </a:moveTo>
                <a:lnTo>
                  <a:pt x="5372100" y="0"/>
                </a:lnTo>
                <a:cubicBezTo>
                  <a:pt x="5414156" y="0"/>
                  <a:pt x="5448300" y="34144"/>
                  <a:pt x="5448300" y="76200"/>
                </a:cubicBezTo>
                <a:lnTo>
                  <a:pt x="5448300" y="685800"/>
                </a:lnTo>
                <a:cubicBezTo>
                  <a:pt x="5448300" y="727856"/>
                  <a:pt x="5414156" y="762000"/>
                  <a:pt x="53721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85800" y="17145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FSPL自由空间损耗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93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FSPL(dB) = 20log₁₀(d) + 20log₁₀(f) - 147.55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476500"/>
            <a:ext cx="5448300" cy="990600"/>
          </a:xfrm>
          <a:custGeom>
            <a:avLst/>
            <a:gdLst/>
            <a:ahLst/>
            <a:cxnLst/>
            <a:rect l="l" t="t" r="r" b="b"/>
            <a:pathLst>
              <a:path w="5448300" h="990600">
                <a:moveTo>
                  <a:pt x="76197" y="0"/>
                </a:moveTo>
                <a:lnTo>
                  <a:pt x="5372103" y="0"/>
                </a:lnTo>
                <a:cubicBezTo>
                  <a:pt x="5414185" y="0"/>
                  <a:pt x="5448300" y="34115"/>
                  <a:pt x="5448300" y="76197"/>
                </a:cubicBezTo>
                <a:lnTo>
                  <a:pt x="5448300" y="914403"/>
                </a:lnTo>
                <a:cubicBezTo>
                  <a:pt x="5448300" y="956485"/>
                  <a:pt x="5414185" y="990600"/>
                  <a:pt x="53721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85800" y="25908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高度因子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956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无人机低于干扰源：+1.2×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1242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无人机高于干扰源：-0.8×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581400"/>
            <a:ext cx="5448300" cy="990600"/>
          </a:xfrm>
          <a:custGeom>
            <a:avLst/>
            <a:gdLst/>
            <a:ahLst/>
            <a:cxnLst/>
            <a:rect l="l" t="t" r="r" b="b"/>
            <a:pathLst>
              <a:path w="5448300" h="990600">
                <a:moveTo>
                  <a:pt x="76197" y="0"/>
                </a:moveTo>
                <a:lnTo>
                  <a:pt x="5372103" y="0"/>
                </a:lnTo>
                <a:cubicBezTo>
                  <a:pt x="5414185" y="0"/>
                  <a:pt x="5448300" y="34115"/>
                  <a:pt x="5448300" y="76197"/>
                </a:cubicBezTo>
                <a:lnTo>
                  <a:pt x="5448300" y="914403"/>
                </a:lnTo>
                <a:cubicBezTo>
                  <a:pt x="5448300" y="956485"/>
                  <a:pt x="5414185" y="990600"/>
                  <a:pt x="53721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85800" y="36957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遮挡衰减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005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NLoS时：功率×0.7 → PL += 1.55dB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291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几何判定：线段与建筑体相交检测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2192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18" name="Text 16"/>
          <p:cNvSpPr/>
          <p:nvPr/>
        </p:nvSpPr>
        <p:spPr>
          <a:xfrm>
            <a:off x="6362700" y="1219200"/>
            <a:ext cx="554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干扰功率计算流程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2700" y="160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0" name="Text 18"/>
          <p:cNvSpPr/>
          <p:nvPr/>
        </p:nvSpPr>
        <p:spPr>
          <a:xfrm>
            <a:off x="6324600" y="1600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1800" y="1600200"/>
            <a:ext cx="2114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发射功率标定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81800" y="1828800"/>
            <a:ext cx="2114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P_tx(dBm) from power_range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627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4" name="Text 22"/>
          <p:cNvSpPr/>
          <p:nvPr/>
        </p:nvSpPr>
        <p:spPr>
          <a:xfrm>
            <a:off x="6324600" y="21336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81800" y="21336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路径损耗计算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81800" y="23622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PL_total = FSPL + height_factor + obstruction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27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8" name="Text 26"/>
          <p:cNvSpPr/>
          <p:nvPr/>
        </p:nvSpPr>
        <p:spPr>
          <a:xfrm>
            <a:off x="6324600" y="26670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1800" y="26670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频谱耦合系数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81800" y="28956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η(Δf) = 10^(-ACIR/10), 同频=1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62700" y="320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2" name="Text 30"/>
          <p:cNvSpPr/>
          <p:nvPr/>
        </p:nvSpPr>
        <p:spPr>
          <a:xfrm>
            <a:off x="6324600" y="32004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81800" y="3200400"/>
            <a:ext cx="2457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活动因子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1800" y="3429000"/>
            <a:ext cx="2457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WiFi: duty_cycle, 5G: load×activity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37719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6" name="Text 34"/>
          <p:cNvSpPr/>
          <p:nvPr/>
        </p:nvSpPr>
        <p:spPr>
          <a:xfrm>
            <a:off x="6362700" y="3771900"/>
            <a:ext cx="553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有效干扰功率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2700" y="4114800"/>
            <a:ext cx="5448300" cy="381000"/>
          </a:xfrm>
          <a:custGeom>
            <a:avLst/>
            <a:gdLst/>
            <a:ahLst/>
            <a:cxnLst/>
            <a:rect l="l" t="t" r="r" b="b"/>
            <a:pathLst>
              <a:path w="5448300" h="381000">
                <a:moveTo>
                  <a:pt x="76200" y="0"/>
                </a:moveTo>
                <a:lnTo>
                  <a:pt x="5372100" y="0"/>
                </a:lnTo>
                <a:cubicBezTo>
                  <a:pt x="5414156" y="0"/>
                  <a:pt x="5448300" y="34144"/>
                  <a:pt x="5448300" y="76200"/>
                </a:cubicBezTo>
                <a:lnTo>
                  <a:pt x="5448300" y="304800"/>
                </a:lnTo>
                <a:cubicBezTo>
                  <a:pt x="5448300" y="346856"/>
                  <a:pt x="5414156" y="381000"/>
                  <a:pt x="53721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362700" y="4114800"/>
            <a:ext cx="5524500" cy="3810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ωᵢ(mW) = 10^((P_tx-PL)/10) · η(Δf) · activity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2700" y="45720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线性域累加后转dB：I_total(dBm) = 10log₁₀(Σωᵢ)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41" name="Shape 39"/>
          <p:cNvSpPr/>
          <p:nvPr/>
        </p:nvSpPr>
        <p:spPr>
          <a:xfrm>
            <a:off x="390525" y="627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2" name="Text 40"/>
          <p:cNvSpPr/>
          <p:nvPr/>
        </p:nvSpPr>
        <p:spPr>
          <a:xfrm>
            <a:off x="628650" y="6248400"/>
            <a:ext cx="546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calculate_path_loss() | _spectral_coupling_factor()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1725" y="627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4" name="Text 42"/>
          <p:cNvSpPr/>
          <p:nvPr/>
        </p:nvSpPr>
        <p:spPr>
          <a:xfrm>
            <a:off x="6419850" y="6248400"/>
            <a:ext cx="546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_activity_factor_for_source() | calculate_interference_power_mw()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CLPC &amp; NAKAGAMI-M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闭环功控与NAKI分布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571500" y="1219200"/>
            <a:ext cx="554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时段-负载闭环功控(CLPC)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" y="1600200"/>
            <a:ext cx="5448300" cy="1066800"/>
          </a:xfrm>
          <a:custGeom>
            <a:avLst/>
            <a:gdLst/>
            <a:ahLst/>
            <a:cxnLst/>
            <a:rect l="l" t="t" r="r" b="b"/>
            <a:pathLst>
              <a:path w="5448300" h="1066800">
                <a:moveTo>
                  <a:pt x="76202" y="0"/>
                </a:moveTo>
                <a:lnTo>
                  <a:pt x="5372098" y="0"/>
                </a:lnTo>
                <a:cubicBezTo>
                  <a:pt x="5414183" y="0"/>
                  <a:pt x="5448300" y="34117"/>
                  <a:pt x="5448300" y="76202"/>
                </a:cubicBezTo>
                <a:lnTo>
                  <a:pt x="5448300" y="990598"/>
                </a:lnTo>
                <a:cubicBezTo>
                  <a:pt x="5448300" y="1032683"/>
                  <a:pt x="5414183" y="1066800"/>
                  <a:pt x="53720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85800" y="17145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时段负载画像(EARTH Project)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193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基于24小时流量曲线，白天忙时、夜间闲时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241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base_load = traffic_profile[hour]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781300"/>
            <a:ext cx="5448300" cy="762000"/>
          </a:xfrm>
          <a:custGeom>
            <a:avLst/>
            <a:gdLst/>
            <a:ahLst/>
            <a:cxnLst/>
            <a:rect l="l" t="t" r="r" b="b"/>
            <a:pathLst>
              <a:path w="5448300" h="762000">
                <a:moveTo>
                  <a:pt x="76200" y="0"/>
                </a:moveTo>
                <a:lnTo>
                  <a:pt x="5372100" y="0"/>
                </a:lnTo>
                <a:cubicBezTo>
                  <a:pt x="5414156" y="0"/>
                  <a:pt x="5448300" y="34144"/>
                  <a:pt x="5448300" y="76200"/>
                </a:cubicBezTo>
                <a:lnTo>
                  <a:pt x="5448300" y="685800"/>
                </a:lnTo>
                <a:cubicBezTo>
                  <a:pt x="5448300" y="727856"/>
                  <a:pt x="5414156" y="762000"/>
                  <a:pt x="53721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85800" y="28956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闭环融合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effective_load = (1-α)·base_load + α·(N_users/capacity)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657600"/>
            <a:ext cx="5448300" cy="1295400"/>
          </a:xfrm>
          <a:custGeom>
            <a:avLst/>
            <a:gdLst/>
            <a:ahLst/>
            <a:cxnLst/>
            <a:rect l="l" t="t" r="r" b="b"/>
            <a:pathLst>
              <a:path w="5448300" h="1295400">
                <a:moveTo>
                  <a:pt x="76195" y="0"/>
                </a:moveTo>
                <a:lnTo>
                  <a:pt x="5372105" y="0"/>
                </a:lnTo>
                <a:cubicBezTo>
                  <a:pt x="5414158" y="0"/>
                  <a:pt x="5448300" y="34142"/>
                  <a:pt x="5448300" y="76195"/>
                </a:cubicBezTo>
                <a:lnTo>
                  <a:pt x="5448300" y="1219205"/>
                </a:lnTo>
                <a:cubicBezTo>
                  <a:pt x="5448300" y="1261286"/>
                  <a:pt x="5414186" y="1295400"/>
                  <a:pt x="53721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85800" y="37719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输出功率三档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767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深度节能：P_tx = P_min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动态调整：P_tx = P_min + load·(P_max-P_min)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6101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满功率：P_tx = P_max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5067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19" name="Text 17"/>
          <p:cNvSpPr/>
          <p:nvPr/>
        </p:nvSpPr>
        <p:spPr>
          <a:xfrm>
            <a:off x="571500" y="5067300"/>
            <a:ext cx="553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EARTH基站能耗模型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" y="5410200"/>
            <a:ext cx="5448300" cy="381000"/>
          </a:xfrm>
          <a:custGeom>
            <a:avLst/>
            <a:gdLst/>
            <a:ahLst/>
            <a:cxnLst/>
            <a:rect l="l" t="t" r="r" b="b"/>
            <a:pathLst>
              <a:path w="5448300" h="381000">
                <a:moveTo>
                  <a:pt x="76200" y="0"/>
                </a:moveTo>
                <a:lnTo>
                  <a:pt x="5372100" y="0"/>
                </a:lnTo>
                <a:cubicBezTo>
                  <a:pt x="5414156" y="0"/>
                  <a:pt x="5448300" y="34144"/>
                  <a:pt x="5448300" y="76200"/>
                </a:cubicBezTo>
                <a:lnTo>
                  <a:pt x="5448300" y="304800"/>
                </a:lnTo>
                <a:cubicBezTo>
                  <a:pt x="5448300" y="346856"/>
                  <a:pt x="5414156" y="381000"/>
                  <a:pt x="53721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71500" y="5410200"/>
            <a:ext cx="5524500" cy="3810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P_in = N_TRX·(P0 + Δp·P_out)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58674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无业务时进入sleep模式：P_sleep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219200"/>
            <a:ext cx="38100" cy="3962400"/>
          </a:xfrm>
          <a:custGeom>
            <a:avLst/>
            <a:gdLst/>
            <a:ahLst/>
            <a:cxnLst/>
            <a:rect l="l" t="t" r="r" b="b"/>
            <a:pathLst>
              <a:path w="38100" h="3962400">
                <a:moveTo>
                  <a:pt x="0" y="0"/>
                </a:moveTo>
                <a:lnTo>
                  <a:pt x="38100" y="0"/>
                </a:lnTo>
                <a:lnTo>
                  <a:pt x="3810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4" name="Text 22"/>
          <p:cNvSpPr/>
          <p:nvPr/>
        </p:nvSpPr>
        <p:spPr>
          <a:xfrm>
            <a:off x="6362700" y="1219200"/>
            <a:ext cx="554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Nakagami-m随机干扰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2700" y="1600200"/>
            <a:ext cx="5448300" cy="762000"/>
          </a:xfrm>
          <a:custGeom>
            <a:avLst/>
            <a:gdLst/>
            <a:ahLst/>
            <a:cxnLst/>
            <a:rect l="l" t="t" r="r" b="b"/>
            <a:pathLst>
              <a:path w="5448300" h="762000">
                <a:moveTo>
                  <a:pt x="76200" y="0"/>
                </a:moveTo>
                <a:lnTo>
                  <a:pt x="5372100" y="0"/>
                </a:lnTo>
                <a:cubicBezTo>
                  <a:pt x="5414156" y="0"/>
                  <a:pt x="5448300" y="34144"/>
                  <a:pt x="5448300" y="76200"/>
                </a:cubicBezTo>
                <a:lnTo>
                  <a:pt x="5448300" y="685800"/>
                </a:lnTo>
                <a:cubicBezTo>
                  <a:pt x="5448300" y="727856"/>
                  <a:pt x="5414156" y="762000"/>
                  <a:pt x="53721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477000" y="17145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为什么需要Nakagami-m？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0" y="20193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多径+相位差导致瞬时干扰随机波动，线性叠加仅得均值，会低估"长尾风险"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2476500"/>
            <a:ext cx="5448300" cy="1295400"/>
          </a:xfrm>
          <a:custGeom>
            <a:avLst/>
            <a:gdLst/>
            <a:ahLst/>
            <a:cxnLst/>
            <a:rect l="l" t="t" r="r" b="b"/>
            <a:pathLst>
              <a:path w="5448300" h="1295400">
                <a:moveTo>
                  <a:pt x="76195" y="0"/>
                </a:moveTo>
                <a:lnTo>
                  <a:pt x="5372105" y="0"/>
                </a:lnTo>
                <a:cubicBezTo>
                  <a:pt x="5414158" y="0"/>
                  <a:pt x="5448300" y="34142"/>
                  <a:pt x="5448300" y="76195"/>
                </a:cubicBezTo>
                <a:lnTo>
                  <a:pt x="5448300" y="1219205"/>
                </a:lnTo>
                <a:cubicBezTo>
                  <a:pt x="5448300" y="1261286"/>
                  <a:pt x="5414186" y="1295400"/>
                  <a:pt x="53721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477000" y="25908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Nakagami-m特性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7000" y="28956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m=1：等价于Rayleigh衰落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0" y="31623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m&gt;1：近似Rician（更稳定）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34290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m→∞：无衰落（确定性）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2700" y="3886200"/>
            <a:ext cx="5448300" cy="1295400"/>
          </a:xfrm>
          <a:custGeom>
            <a:avLst/>
            <a:gdLst/>
            <a:ahLst/>
            <a:cxnLst/>
            <a:rect l="l" t="t" r="r" b="b"/>
            <a:pathLst>
              <a:path w="5448300" h="1295400">
                <a:moveTo>
                  <a:pt x="76195" y="0"/>
                </a:moveTo>
                <a:lnTo>
                  <a:pt x="5372105" y="0"/>
                </a:lnTo>
                <a:cubicBezTo>
                  <a:pt x="5414158" y="0"/>
                  <a:pt x="5448300" y="34142"/>
                  <a:pt x="5448300" y="76195"/>
                </a:cubicBezTo>
                <a:lnTo>
                  <a:pt x="5448300" y="1219205"/>
                </a:lnTo>
                <a:cubicBezTo>
                  <a:pt x="5448300" y="1261286"/>
                  <a:pt x="5414186" y="1295400"/>
                  <a:pt x="53721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77000" y="40005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矩匹配近似(Beaulieu-Filho)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43053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Ω = Σ ωᵢ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77000" y="45720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m_eq = Ω² / Σ(ωᵢ²/mᵢ)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7000" y="4838700"/>
            <a:ext cx="529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I_total ~ Gamma(k=m_eq, θ=Ω/m_eq)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5295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39" name="Text 37"/>
          <p:cNvSpPr/>
          <p:nvPr/>
        </p:nvSpPr>
        <p:spPr>
          <a:xfrm>
            <a:off x="6362700" y="5295900"/>
            <a:ext cx="553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实现路径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62700" y="56388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最简路径：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将Rayleigh的h~Exp(1)替换为Gamma(m, 1/m)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62700" y="5905500"/>
            <a:ext cx="552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增强路径：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按干扰源列表计算m_agg（更贴近聚合分布）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000" y="625316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43" name="Shape 41"/>
          <p:cNvSpPr/>
          <p:nvPr/>
        </p:nvSpPr>
        <p:spPr>
          <a:xfrm>
            <a:off x="409575" y="6400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44" name="Text 42"/>
          <p:cNvSpPr/>
          <p:nvPr/>
        </p:nvSpPr>
        <p:spPr>
          <a:xfrm>
            <a:off x="628650" y="6372225"/>
            <a:ext cx="11258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参考：EARTH Project D2.3 | Santos Filho &amp; Yacoub (2004) | da Costa et al. (2008)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75" y="374275"/>
            <a:ext cx="1151830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kern="0" spc="59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SPEED ENERGY EFFICIENCY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275" y="673695"/>
            <a:ext cx="11611874" cy="374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无人机速度能效模型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2988" y="1197679"/>
            <a:ext cx="37427" cy="5164992"/>
          </a:xfrm>
          <a:custGeom>
            <a:avLst/>
            <a:gdLst/>
            <a:ahLst/>
            <a:cxnLst/>
            <a:rect l="l" t="t" r="r" b="b"/>
            <a:pathLst>
              <a:path w="37427" h="5164992">
                <a:moveTo>
                  <a:pt x="0" y="0"/>
                </a:moveTo>
                <a:lnTo>
                  <a:pt x="37427" y="0"/>
                </a:lnTo>
                <a:lnTo>
                  <a:pt x="37427" y="5164992"/>
                </a:lnTo>
                <a:lnTo>
                  <a:pt x="0" y="5164992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561412" y="1197679"/>
            <a:ext cx="6708875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旋翼无人机推进功率模型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1412" y="1571954"/>
            <a:ext cx="669016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参考：Y. Zeng et al., IEEE TWC 2019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1412" y="1908801"/>
            <a:ext cx="6615306" cy="1384817"/>
          </a:xfrm>
          <a:custGeom>
            <a:avLst/>
            <a:gdLst/>
            <a:ahLst/>
            <a:cxnLst/>
            <a:rect l="l" t="t" r="r" b="b"/>
            <a:pathLst>
              <a:path w="6615306" h="1384817">
                <a:moveTo>
                  <a:pt x="74849" y="0"/>
                </a:moveTo>
                <a:lnTo>
                  <a:pt x="6540457" y="0"/>
                </a:lnTo>
                <a:cubicBezTo>
                  <a:pt x="6581795" y="0"/>
                  <a:pt x="6615306" y="33511"/>
                  <a:pt x="6615306" y="74849"/>
                </a:cubicBezTo>
                <a:lnTo>
                  <a:pt x="6615306" y="1309967"/>
                </a:lnTo>
                <a:cubicBezTo>
                  <a:pt x="6615306" y="1351305"/>
                  <a:pt x="6581795" y="1384817"/>
                  <a:pt x="6540457" y="1384817"/>
                </a:cubicBezTo>
                <a:lnTo>
                  <a:pt x="74849" y="1384817"/>
                </a:lnTo>
                <a:cubicBezTo>
                  <a:pt x="33511" y="1384817"/>
                  <a:pt x="0" y="1351305"/>
                  <a:pt x="0" y="1309967"/>
                </a:cubicBezTo>
                <a:lnTo>
                  <a:pt x="0" y="74849"/>
                </a:lnTo>
                <a:cubicBezTo>
                  <a:pt x="0" y="33511"/>
                  <a:pt x="33511" y="0"/>
                  <a:pt x="74849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711122" y="2058511"/>
            <a:ext cx="639074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总推进功率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1122" y="2357931"/>
            <a:ext cx="639074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P(V) = P_profile + P_induced + P_parasite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695" y="2694778"/>
            <a:ext cx="213336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叶片剖面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695" y="2919343"/>
            <a:ext cx="213336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~V²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05379" y="2694778"/>
            <a:ext cx="213336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诱导功率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05379" y="2919343"/>
            <a:ext cx="213336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064" y="2694778"/>
            <a:ext cx="213336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寄生功率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064" y="2919343"/>
            <a:ext cx="213336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~V³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412" y="3405900"/>
            <a:ext cx="6615306" cy="935687"/>
          </a:xfrm>
          <a:custGeom>
            <a:avLst/>
            <a:gdLst/>
            <a:ahLst/>
            <a:cxnLst/>
            <a:rect l="l" t="t" r="r" b="b"/>
            <a:pathLst>
              <a:path w="6615306" h="935687">
                <a:moveTo>
                  <a:pt x="74855" y="0"/>
                </a:moveTo>
                <a:lnTo>
                  <a:pt x="6540451" y="0"/>
                </a:lnTo>
                <a:cubicBezTo>
                  <a:pt x="6581793" y="0"/>
                  <a:pt x="6615306" y="33514"/>
                  <a:pt x="6615306" y="74855"/>
                </a:cubicBezTo>
                <a:lnTo>
                  <a:pt x="6615306" y="860832"/>
                </a:lnTo>
                <a:cubicBezTo>
                  <a:pt x="6615306" y="902173"/>
                  <a:pt x="6581793" y="935687"/>
                  <a:pt x="6540451" y="935687"/>
                </a:cubicBezTo>
                <a:lnTo>
                  <a:pt x="74855" y="935687"/>
                </a:lnTo>
                <a:cubicBezTo>
                  <a:pt x="33541" y="935687"/>
                  <a:pt x="0" y="902145"/>
                  <a:pt x="0" y="860832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73695" y="3518183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叶片剖面功率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695" y="3780175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P0·(1 + 3V²/U_tip²)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695" y="4004740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P0: 悬停叶片剖面功率, U_tip: 叶尖速度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412" y="4416442"/>
            <a:ext cx="6615306" cy="935687"/>
          </a:xfrm>
          <a:custGeom>
            <a:avLst/>
            <a:gdLst/>
            <a:ahLst/>
            <a:cxnLst/>
            <a:rect l="l" t="t" r="r" b="b"/>
            <a:pathLst>
              <a:path w="6615306" h="935687">
                <a:moveTo>
                  <a:pt x="74855" y="0"/>
                </a:moveTo>
                <a:lnTo>
                  <a:pt x="6540451" y="0"/>
                </a:lnTo>
                <a:cubicBezTo>
                  <a:pt x="6581793" y="0"/>
                  <a:pt x="6615306" y="33514"/>
                  <a:pt x="6615306" y="74855"/>
                </a:cubicBezTo>
                <a:lnTo>
                  <a:pt x="6615306" y="860832"/>
                </a:lnTo>
                <a:cubicBezTo>
                  <a:pt x="6615306" y="902173"/>
                  <a:pt x="6581793" y="935687"/>
                  <a:pt x="6540451" y="935687"/>
                </a:cubicBezTo>
                <a:lnTo>
                  <a:pt x="74855" y="935687"/>
                </a:lnTo>
                <a:cubicBezTo>
                  <a:pt x="33541" y="935687"/>
                  <a:pt x="0" y="902145"/>
                  <a:pt x="0" y="860832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73695" y="4528724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诱导功率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695" y="4790717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Pi·(√(1+V⁴/(4v0⁴)) - V²/(2v0²))^0.5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695" y="5015282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Pi: 悬停诱导功率, v0: 悬停诱导速度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1412" y="5426984"/>
            <a:ext cx="6615306" cy="935687"/>
          </a:xfrm>
          <a:custGeom>
            <a:avLst/>
            <a:gdLst/>
            <a:ahLst/>
            <a:cxnLst/>
            <a:rect l="l" t="t" r="r" b="b"/>
            <a:pathLst>
              <a:path w="6615306" h="935687">
                <a:moveTo>
                  <a:pt x="74855" y="0"/>
                </a:moveTo>
                <a:lnTo>
                  <a:pt x="6540451" y="0"/>
                </a:lnTo>
                <a:cubicBezTo>
                  <a:pt x="6581793" y="0"/>
                  <a:pt x="6615306" y="33514"/>
                  <a:pt x="6615306" y="74855"/>
                </a:cubicBezTo>
                <a:lnTo>
                  <a:pt x="6615306" y="860832"/>
                </a:lnTo>
                <a:cubicBezTo>
                  <a:pt x="6615306" y="902173"/>
                  <a:pt x="6581793" y="935687"/>
                  <a:pt x="6540451" y="935687"/>
                </a:cubicBezTo>
                <a:lnTo>
                  <a:pt x="74855" y="935687"/>
                </a:lnTo>
                <a:cubicBezTo>
                  <a:pt x="33541" y="935687"/>
                  <a:pt x="0" y="902145"/>
                  <a:pt x="0" y="860832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73695" y="5539266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寄生功率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3695" y="5801259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0.5·ρ·s·A·d0·V³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3695" y="6025823"/>
            <a:ext cx="646559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ρ: 空气密度, s: 实度, A: 桨盘面积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49455" y="1197679"/>
            <a:ext cx="37427" cy="2657351"/>
          </a:xfrm>
          <a:custGeom>
            <a:avLst/>
            <a:gdLst/>
            <a:ahLst/>
            <a:cxnLst/>
            <a:rect l="l" t="t" r="r" b="b"/>
            <a:pathLst>
              <a:path w="37427" h="2657351">
                <a:moveTo>
                  <a:pt x="0" y="0"/>
                </a:moveTo>
                <a:lnTo>
                  <a:pt x="37427" y="0"/>
                </a:lnTo>
                <a:lnTo>
                  <a:pt x="37427" y="2657351"/>
                </a:lnTo>
                <a:lnTo>
                  <a:pt x="0" y="2657351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9" name="Text 27"/>
          <p:cNvSpPr/>
          <p:nvPr/>
        </p:nvSpPr>
        <p:spPr>
          <a:xfrm>
            <a:off x="7517879" y="1197679"/>
            <a:ext cx="4397728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速度能效退化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17879" y="1571954"/>
            <a:ext cx="4304160" cy="1347389"/>
          </a:xfrm>
          <a:custGeom>
            <a:avLst/>
            <a:gdLst/>
            <a:ahLst/>
            <a:cxnLst/>
            <a:rect l="l" t="t" r="r" b="b"/>
            <a:pathLst>
              <a:path w="4304160" h="1347389">
                <a:moveTo>
                  <a:pt x="74861" y="0"/>
                </a:moveTo>
                <a:lnTo>
                  <a:pt x="4229299" y="0"/>
                </a:lnTo>
                <a:cubicBezTo>
                  <a:pt x="4270643" y="0"/>
                  <a:pt x="4304160" y="33516"/>
                  <a:pt x="4304160" y="74861"/>
                </a:cubicBezTo>
                <a:lnTo>
                  <a:pt x="4304160" y="1272528"/>
                </a:lnTo>
                <a:cubicBezTo>
                  <a:pt x="4304160" y="1313873"/>
                  <a:pt x="4270643" y="1347389"/>
                  <a:pt x="4229299" y="1347389"/>
                </a:cubicBezTo>
                <a:lnTo>
                  <a:pt x="74861" y="1347389"/>
                </a:lnTo>
                <a:cubicBezTo>
                  <a:pt x="33516" y="1347389"/>
                  <a:pt x="0" y="1313873"/>
                  <a:pt x="0" y="1272528"/>
                </a:cubicBezTo>
                <a:lnTo>
                  <a:pt x="0" y="74861"/>
                </a:lnTo>
                <a:cubicBezTo>
                  <a:pt x="0" y="33544"/>
                  <a:pt x="33544" y="0"/>
                  <a:pt x="74861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7667588" y="1721664"/>
            <a:ext cx="407959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退化定义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67588" y="2021084"/>
            <a:ext cx="407959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D_speed = 1 - P(0)/P(V)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67588" y="2320503"/>
            <a:ext cx="4079595" cy="449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以悬停功率P(0)为参考基准，速度越快→推进功率越大→能效越差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17879" y="3031625"/>
            <a:ext cx="437901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V=0（悬停）：</a:t>
            </a: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D_speed = 0，能效最优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17879" y="3331045"/>
            <a:ext cx="437901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V增加：</a:t>
            </a: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D_speed单调递增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17879" y="3630465"/>
            <a:ext cx="437901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V→V_max：</a:t>
            </a: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D_speed趋近于最大值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49455" y="3967312"/>
            <a:ext cx="37427" cy="2432786"/>
          </a:xfrm>
          <a:custGeom>
            <a:avLst/>
            <a:gdLst/>
            <a:ahLst/>
            <a:cxnLst/>
            <a:rect l="l" t="t" r="r" b="b"/>
            <a:pathLst>
              <a:path w="37427" h="2432786">
                <a:moveTo>
                  <a:pt x="0" y="0"/>
                </a:moveTo>
                <a:lnTo>
                  <a:pt x="37427" y="0"/>
                </a:lnTo>
                <a:lnTo>
                  <a:pt x="37427" y="2432786"/>
                </a:lnTo>
                <a:lnTo>
                  <a:pt x="0" y="2432786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38" name="Text 36"/>
          <p:cNvSpPr/>
          <p:nvPr/>
        </p:nvSpPr>
        <p:spPr>
          <a:xfrm>
            <a:off x="7517879" y="3967312"/>
            <a:ext cx="4388371" cy="261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模型参数（典型值）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17879" y="4341587"/>
            <a:ext cx="261992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242497" y="4341587"/>
            <a:ext cx="65498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79.86 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17879" y="4603579"/>
            <a:ext cx="20585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42497" y="4603579"/>
            <a:ext cx="65498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88.63 W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17879" y="4865572"/>
            <a:ext cx="421059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U_tip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42497" y="4865572"/>
            <a:ext cx="65498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120 m/s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17879" y="5127564"/>
            <a:ext cx="243279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60186" y="5127564"/>
            <a:ext cx="72983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4.03 m/s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17879" y="5389556"/>
            <a:ext cx="261992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71742" y="5389556"/>
            <a:ext cx="318134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17879" y="5651549"/>
            <a:ext cx="168424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ρ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13252" y="5651549"/>
            <a:ext cx="98247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1.225 kg/m³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17879" y="5913541"/>
            <a:ext cx="149710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489431" y="5913541"/>
            <a:ext cx="402345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0.05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17879" y="6175533"/>
            <a:ext cx="177781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60186" y="6175533"/>
            <a:ext cx="729836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0.503 m²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74275" y="6517059"/>
            <a:ext cx="11443450" cy="9357"/>
          </a:xfrm>
          <a:custGeom>
            <a:avLst/>
            <a:gdLst/>
            <a:ahLst/>
            <a:cxnLst/>
            <a:rect l="l" t="t" r="r" b="b"/>
            <a:pathLst>
              <a:path w="11443450" h="9357">
                <a:moveTo>
                  <a:pt x="0" y="0"/>
                </a:moveTo>
                <a:lnTo>
                  <a:pt x="11443450" y="0"/>
                </a:lnTo>
                <a:lnTo>
                  <a:pt x="11443450" y="9357"/>
                </a:lnTo>
                <a:lnTo>
                  <a:pt x="0" y="935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56" name="Shape 54"/>
          <p:cNvSpPr/>
          <p:nvPr/>
        </p:nvSpPr>
        <p:spPr>
          <a:xfrm>
            <a:off x="383632" y="6662091"/>
            <a:ext cx="168424" cy="149710"/>
          </a:xfrm>
          <a:custGeom>
            <a:avLst/>
            <a:gdLst/>
            <a:ahLst/>
            <a:cxnLst/>
            <a:rect l="l" t="t" r="r" b="b"/>
            <a:pathLst>
              <a:path w="168424" h="149710">
                <a:moveTo>
                  <a:pt x="105499" y="351"/>
                </a:moveTo>
                <a:cubicBezTo>
                  <a:pt x="100528" y="-1082"/>
                  <a:pt x="95352" y="1813"/>
                  <a:pt x="93920" y="6784"/>
                </a:cubicBezTo>
                <a:lnTo>
                  <a:pt x="56492" y="137780"/>
                </a:lnTo>
                <a:cubicBezTo>
                  <a:pt x="55059" y="142751"/>
                  <a:pt x="57954" y="147926"/>
                  <a:pt x="62925" y="149359"/>
                </a:cubicBezTo>
                <a:cubicBezTo>
                  <a:pt x="67896" y="150792"/>
                  <a:pt x="73071" y="147897"/>
                  <a:pt x="74504" y="142926"/>
                </a:cubicBezTo>
                <a:lnTo>
                  <a:pt x="111932" y="11930"/>
                </a:lnTo>
                <a:cubicBezTo>
                  <a:pt x="113364" y="6959"/>
                  <a:pt x="110470" y="1784"/>
                  <a:pt x="105499" y="351"/>
                </a:cubicBezTo>
                <a:close/>
                <a:moveTo>
                  <a:pt x="124388" y="40147"/>
                </a:moveTo>
                <a:cubicBezTo>
                  <a:pt x="120733" y="43802"/>
                  <a:pt x="120733" y="49738"/>
                  <a:pt x="124388" y="53393"/>
                </a:cubicBezTo>
                <a:lnTo>
                  <a:pt x="145850" y="74855"/>
                </a:lnTo>
                <a:lnTo>
                  <a:pt x="124388" y="96317"/>
                </a:lnTo>
                <a:cubicBezTo>
                  <a:pt x="120733" y="99972"/>
                  <a:pt x="120733" y="105908"/>
                  <a:pt x="124388" y="109563"/>
                </a:cubicBezTo>
                <a:cubicBezTo>
                  <a:pt x="128043" y="113218"/>
                  <a:pt x="133979" y="113218"/>
                  <a:pt x="137634" y="109563"/>
                </a:cubicBezTo>
                <a:lnTo>
                  <a:pt x="165704" y="81492"/>
                </a:lnTo>
                <a:cubicBezTo>
                  <a:pt x="169359" y="77837"/>
                  <a:pt x="169359" y="71902"/>
                  <a:pt x="165704" y="68247"/>
                </a:cubicBezTo>
                <a:lnTo>
                  <a:pt x="137634" y="40176"/>
                </a:lnTo>
                <a:cubicBezTo>
                  <a:pt x="133979" y="36521"/>
                  <a:pt x="128043" y="36521"/>
                  <a:pt x="124388" y="40176"/>
                </a:cubicBezTo>
                <a:close/>
                <a:moveTo>
                  <a:pt x="44065" y="40147"/>
                </a:moveTo>
                <a:cubicBezTo>
                  <a:pt x="40410" y="36492"/>
                  <a:pt x="34474" y="36492"/>
                  <a:pt x="30819" y="40147"/>
                </a:cubicBezTo>
                <a:lnTo>
                  <a:pt x="2749" y="68217"/>
                </a:lnTo>
                <a:cubicBezTo>
                  <a:pt x="-906" y="71872"/>
                  <a:pt x="-906" y="77808"/>
                  <a:pt x="2749" y="81463"/>
                </a:cubicBezTo>
                <a:lnTo>
                  <a:pt x="30819" y="109534"/>
                </a:lnTo>
                <a:cubicBezTo>
                  <a:pt x="34474" y="113189"/>
                  <a:pt x="40410" y="113189"/>
                  <a:pt x="44065" y="109534"/>
                </a:cubicBezTo>
                <a:cubicBezTo>
                  <a:pt x="47720" y="105879"/>
                  <a:pt x="47720" y="99943"/>
                  <a:pt x="44065" y="96288"/>
                </a:cubicBezTo>
                <a:lnTo>
                  <a:pt x="22603" y="74855"/>
                </a:lnTo>
                <a:lnTo>
                  <a:pt x="44036" y="53393"/>
                </a:lnTo>
                <a:cubicBezTo>
                  <a:pt x="47691" y="49738"/>
                  <a:pt x="47691" y="43802"/>
                  <a:pt x="44036" y="40147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57" name="Text 55"/>
          <p:cNvSpPr/>
          <p:nvPr/>
        </p:nvSpPr>
        <p:spPr>
          <a:xfrm>
            <a:off x="616562" y="6634020"/>
            <a:ext cx="11276018" cy="224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calculate_speed_energy_efficiency_degradation() | rotor power model in UAV_GA.py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689" y="321689"/>
            <a:ext cx="11612960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kern="0" spc="5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DEGRADATION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689" y="579040"/>
            <a:ext cx="11693383" cy="3216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通信劣化评估公式设计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7773" y="1029404"/>
            <a:ext cx="32169" cy="2959536"/>
          </a:xfrm>
          <a:custGeom>
            <a:avLst/>
            <a:gdLst/>
            <a:ahLst/>
            <a:cxnLst/>
            <a:rect l="l" t="t" r="r" b="b"/>
            <a:pathLst>
              <a:path w="32169" h="2959536">
                <a:moveTo>
                  <a:pt x="0" y="0"/>
                </a:moveTo>
                <a:lnTo>
                  <a:pt x="32169" y="0"/>
                </a:lnTo>
                <a:lnTo>
                  <a:pt x="32169" y="2959536"/>
                </a:lnTo>
                <a:lnTo>
                  <a:pt x="0" y="2959536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482533" y="1029404"/>
            <a:ext cx="5629551" cy="225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为什么选用Margin/CDI模型？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2533" y="1351092"/>
            <a:ext cx="5549129" cy="611208"/>
          </a:xfrm>
          <a:custGeom>
            <a:avLst/>
            <a:gdLst/>
            <a:ahLst/>
            <a:cxnLst/>
            <a:rect l="l" t="t" r="r" b="b"/>
            <a:pathLst>
              <a:path w="5549129" h="611208">
                <a:moveTo>
                  <a:pt x="64336" y="0"/>
                </a:moveTo>
                <a:lnTo>
                  <a:pt x="5484793" y="0"/>
                </a:lnTo>
                <a:cubicBezTo>
                  <a:pt x="5520325" y="0"/>
                  <a:pt x="5549129" y="28804"/>
                  <a:pt x="5549129" y="64336"/>
                </a:cubicBezTo>
                <a:lnTo>
                  <a:pt x="5549129" y="546873"/>
                </a:lnTo>
                <a:cubicBezTo>
                  <a:pt x="5549129" y="582404"/>
                  <a:pt x="5520325" y="611208"/>
                  <a:pt x="5484793" y="611208"/>
                </a:cubicBezTo>
                <a:lnTo>
                  <a:pt x="64336" y="611208"/>
                </a:lnTo>
                <a:cubicBezTo>
                  <a:pt x="28804" y="611208"/>
                  <a:pt x="0" y="582404"/>
                  <a:pt x="0" y="546873"/>
                </a:cubicBezTo>
                <a:lnTo>
                  <a:pt x="0" y="64336"/>
                </a:lnTo>
                <a:cubicBezTo>
                  <a:pt x="0" y="28804"/>
                  <a:pt x="28804" y="0"/>
                  <a:pt x="6433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79040" y="1447599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物理可解释性强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040" y="1672781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Margin直接反映"信号能否压过干扰+噪声"，物理意义明确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533" y="2026639"/>
            <a:ext cx="5549129" cy="611208"/>
          </a:xfrm>
          <a:custGeom>
            <a:avLst/>
            <a:gdLst/>
            <a:ahLst/>
            <a:cxnLst/>
            <a:rect l="l" t="t" r="r" b="b"/>
            <a:pathLst>
              <a:path w="5549129" h="611208">
                <a:moveTo>
                  <a:pt x="64336" y="0"/>
                </a:moveTo>
                <a:lnTo>
                  <a:pt x="5484793" y="0"/>
                </a:lnTo>
                <a:cubicBezTo>
                  <a:pt x="5520325" y="0"/>
                  <a:pt x="5549129" y="28804"/>
                  <a:pt x="5549129" y="64336"/>
                </a:cubicBezTo>
                <a:lnTo>
                  <a:pt x="5549129" y="546873"/>
                </a:lnTo>
                <a:cubicBezTo>
                  <a:pt x="5549129" y="582404"/>
                  <a:pt x="5520325" y="611208"/>
                  <a:pt x="5484793" y="611208"/>
                </a:cubicBezTo>
                <a:lnTo>
                  <a:pt x="64336" y="611208"/>
                </a:lnTo>
                <a:cubicBezTo>
                  <a:pt x="28804" y="611208"/>
                  <a:pt x="0" y="582404"/>
                  <a:pt x="0" y="546873"/>
                </a:cubicBezTo>
                <a:lnTo>
                  <a:pt x="0" y="64336"/>
                </a:lnTo>
                <a:cubicBezTo>
                  <a:pt x="0" y="28804"/>
                  <a:pt x="28804" y="0"/>
                  <a:pt x="6433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579040" y="2123145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工程实用性高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040" y="2348327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参数少、易调优，适合工程快速部署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533" y="2702185"/>
            <a:ext cx="5549129" cy="611208"/>
          </a:xfrm>
          <a:custGeom>
            <a:avLst/>
            <a:gdLst/>
            <a:ahLst/>
            <a:cxnLst/>
            <a:rect l="l" t="t" r="r" b="b"/>
            <a:pathLst>
              <a:path w="5549129" h="611208">
                <a:moveTo>
                  <a:pt x="64336" y="0"/>
                </a:moveTo>
                <a:lnTo>
                  <a:pt x="5484793" y="0"/>
                </a:lnTo>
                <a:cubicBezTo>
                  <a:pt x="5520325" y="0"/>
                  <a:pt x="5549129" y="28804"/>
                  <a:pt x="5549129" y="64336"/>
                </a:cubicBezTo>
                <a:lnTo>
                  <a:pt x="5549129" y="546873"/>
                </a:lnTo>
                <a:cubicBezTo>
                  <a:pt x="5549129" y="582404"/>
                  <a:pt x="5520325" y="611208"/>
                  <a:pt x="5484793" y="611208"/>
                </a:cubicBezTo>
                <a:lnTo>
                  <a:pt x="64336" y="611208"/>
                </a:lnTo>
                <a:cubicBezTo>
                  <a:pt x="28804" y="611208"/>
                  <a:pt x="0" y="582404"/>
                  <a:pt x="0" y="546873"/>
                </a:cubicBezTo>
                <a:lnTo>
                  <a:pt x="0" y="64336"/>
                </a:lnTo>
                <a:cubicBezTo>
                  <a:pt x="0" y="28804"/>
                  <a:pt x="28804" y="0"/>
                  <a:pt x="6433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579040" y="2798691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与SINR直接关联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040" y="3023873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M(dB) = P_rx - P_IN，SINR = 10^(M/10)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2533" y="3377731"/>
            <a:ext cx="5549129" cy="611208"/>
          </a:xfrm>
          <a:custGeom>
            <a:avLst/>
            <a:gdLst/>
            <a:ahLst/>
            <a:cxnLst/>
            <a:rect l="l" t="t" r="r" b="b"/>
            <a:pathLst>
              <a:path w="5549129" h="611208">
                <a:moveTo>
                  <a:pt x="64336" y="0"/>
                </a:moveTo>
                <a:lnTo>
                  <a:pt x="5484793" y="0"/>
                </a:lnTo>
                <a:cubicBezTo>
                  <a:pt x="5520325" y="0"/>
                  <a:pt x="5549129" y="28804"/>
                  <a:pt x="5549129" y="64336"/>
                </a:cubicBezTo>
                <a:lnTo>
                  <a:pt x="5549129" y="546873"/>
                </a:lnTo>
                <a:cubicBezTo>
                  <a:pt x="5549129" y="582404"/>
                  <a:pt x="5520325" y="611208"/>
                  <a:pt x="5484793" y="611208"/>
                </a:cubicBezTo>
                <a:lnTo>
                  <a:pt x="64336" y="611208"/>
                </a:lnTo>
                <a:cubicBezTo>
                  <a:pt x="28804" y="611208"/>
                  <a:pt x="0" y="582404"/>
                  <a:pt x="0" y="546873"/>
                </a:cubicBezTo>
                <a:lnTo>
                  <a:pt x="0" y="64336"/>
                </a:lnTo>
                <a:cubicBezTo>
                  <a:pt x="0" y="28804"/>
                  <a:pt x="28804" y="0"/>
                  <a:pt x="6433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79040" y="3474237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可扩展性好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040" y="3699420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支持多模型融合，适应不同场景需求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8181" y="1029404"/>
            <a:ext cx="32169" cy="2798691"/>
          </a:xfrm>
          <a:custGeom>
            <a:avLst/>
            <a:gdLst/>
            <a:ahLst/>
            <a:cxnLst/>
            <a:rect l="l" t="t" r="r" b="b"/>
            <a:pathLst>
              <a:path w="32169" h="2798691">
                <a:moveTo>
                  <a:pt x="0" y="0"/>
                </a:moveTo>
                <a:lnTo>
                  <a:pt x="32169" y="0"/>
                </a:lnTo>
                <a:lnTo>
                  <a:pt x="32169" y="2798691"/>
                </a:lnTo>
                <a:lnTo>
                  <a:pt x="0" y="2798691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19" name="Text 17"/>
          <p:cNvSpPr/>
          <p:nvPr/>
        </p:nvSpPr>
        <p:spPr>
          <a:xfrm>
            <a:off x="6322941" y="1029404"/>
            <a:ext cx="5629551" cy="225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Margin模型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22941" y="1351092"/>
            <a:ext cx="5549129" cy="868559"/>
          </a:xfrm>
          <a:custGeom>
            <a:avLst/>
            <a:gdLst/>
            <a:ahLst/>
            <a:cxnLst/>
            <a:rect l="l" t="t" r="r" b="b"/>
            <a:pathLst>
              <a:path w="5549129" h="868559">
                <a:moveTo>
                  <a:pt x="64334" y="0"/>
                </a:moveTo>
                <a:lnTo>
                  <a:pt x="5484795" y="0"/>
                </a:lnTo>
                <a:cubicBezTo>
                  <a:pt x="5520326" y="0"/>
                  <a:pt x="5549129" y="28803"/>
                  <a:pt x="5549129" y="64334"/>
                </a:cubicBezTo>
                <a:lnTo>
                  <a:pt x="5549129" y="804225"/>
                </a:lnTo>
                <a:cubicBezTo>
                  <a:pt x="5549129" y="839756"/>
                  <a:pt x="5520326" y="868559"/>
                  <a:pt x="5484795" y="868559"/>
                </a:cubicBezTo>
                <a:lnTo>
                  <a:pt x="64334" y="868559"/>
                </a:lnTo>
                <a:cubicBezTo>
                  <a:pt x="28803" y="868559"/>
                  <a:pt x="0" y="839756"/>
                  <a:pt x="0" y="804225"/>
                </a:cubicBezTo>
                <a:lnTo>
                  <a:pt x="0" y="64334"/>
                </a:lnTo>
                <a:cubicBezTo>
                  <a:pt x="0" y="28827"/>
                  <a:pt x="28827" y="0"/>
                  <a:pt x="64334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419448" y="1447599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功率裕量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448" y="1704950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M(dB) = P_rx(dBm) - P_IN(dBm)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9448" y="1930132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P_IN = I_total + N（干扰+噪声）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2941" y="2283989"/>
            <a:ext cx="5549129" cy="836391"/>
          </a:xfrm>
          <a:custGeom>
            <a:avLst/>
            <a:gdLst/>
            <a:ahLst/>
            <a:cxnLst/>
            <a:rect l="l" t="t" r="r" b="b"/>
            <a:pathLst>
              <a:path w="5549129" h="836391">
                <a:moveTo>
                  <a:pt x="64335" y="0"/>
                </a:moveTo>
                <a:lnTo>
                  <a:pt x="5484794" y="0"/>
                </a:lnTo>
                <a:cubicBezTo>
                  <a:pt x="5520325" y="0"/>
                  <a:pt x="5549129" y="28804"/>
                  <a:pt x="5549129" y="64335"/>
                </a:cubicBezTo>
                <a:lnTo>
                  <a:pt x="5549129" y="772055"/>
                </a:lnTo>
                <a:cubicBezTo>
                  <a:pt x="5549129" y="807587"/>
                  <a:pt x="5520325" y="836391"/>
                  <a:pt x="5484794" y="836391"/>
                </a:cubicBezTo>
                <a:lnTo>
                  <a:pt x="64335" y="836391"/>
                </a:lnTo>
                <a:cubicBezTo>
                  <a:pt x="28804" y="836391"/>
                  <a:pt x="0" y="807587"/>
                  <a:pt x="0" y="772055"/>
                </a:cubicBezTo>
                <a:lnTo>
                  <a:pt x="0" y="64335"/>
                </a:lnTo>
                <a:cubicBezTo>
                  <a:pt x="0" y="28804"/>
                  <a:pt x="28804" y="0"/>
                  <a:pt x="64335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419448" y="2380496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Sigmoid映射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448" y="2637847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D_comm = 1 / (1 + exp((M-θ)/slope))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9448" y="2830860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θ: 门限(dB), slope: 斜率(dB)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2941" y="3184718"/>
            <a:ext cx="5613467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SINR计算：</a:t>
            </a: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SINR = 10^(M/10)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22941" y="3409900"/>
            <a:ext cx="5613467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速率估计：</a:t>
            </a: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 = B·log₂(1+SINR)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2941" y="3635082"/>
            <a:ext cx="5613467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中断概率：</a:t>
            </a: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P_outage = P(M &lt; θ)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8181" y="3924602"/>
            <a:ext cx="32169" cy="1865794"/>
          </a:xfrm>
          <a:custGeom>
            <a:avLst/>
            <a:gdLst/>
            <a:ahLst/>
            <a:cxnLst/>
            <a:rect l="l" t="t" r="r" b="b"/>
            <a:pathLst>
              <a:path w="32169" h="1865794">
                <a:moveTo>
                  <a:pt x="0" y="0"/>
                </a:moveTo>
                <a:lnTo>
                  <a:pt x="32169" y="0"/>
                </a:lnTo>
                <a:lnTo>
                  <a:pt x="32169" y="1865794"/>
                </a:lnTo>
                <a:lnTo>
                  <a:pt x="0" y="1865794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2" name="Text 30"/>
          <p:cNvSpPr/>
          <p:nvPr/>
        </p:nvSpPr>
        <p:spPr>
          <a:xfrm>
            <a:off x="6322941" y="3924602"/>
            <a:ext cx="5629551" cy="225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CDI模型（统一退化指数）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2941" y="4246290"/>
            <a:ext cx="5549129" cy="836391"/>
          </a:xfrm>
          <a:custGeom>
            <a:avLst/>
            <a:gdLst/>
            <a:ahLst/>
            <a:cxnLst/>
            <a:rect l="l" t="t" r="r" b="b"/>
            <a:pathLst>
              <a:path w="5549129" h="836391">
                <a:moveTo>
                  <a:pt x="64335" y="0"/>
                </a:moveTo>
                <a:lnTo>
                  <a:pt x="5484794" y="0"/>
                </a:lnTo>
                <a:cubicBezTo>
                  <a:pt x="5520325" y="0"/>
                  <a:pt x="5549129" y="28804"/>
                  <a:pt x="5549129" y="64335"/>
                </a:cubicBezTo>
                <a:lnTo>
                  <a:pt x="5549129" y="772055"/>
                </a:lnTo>
                <a:cubicBezTo>
                  <a:pt x="5549129" y="807587"/>
                  <a:pt x="5520325" y="836391"/>
                  <a:pt x="5484794" y="836391"/>
                </a:cubicBezTo>
                <a:lnTo>
                  <a:pt x="64335" y="836391"/>
                </a:lnTo>
                <a:cubicBezTo>
                  <a:pt x="28804" y="836391"/>
                  <a:pt x="0" y="807587"/>
                  <a:pt x="0" y="772055"/>
                </a:cubicBezTo>
                <a:lnTo>
                  <a:pt x="0" y="64335"/>
                </a:lnTo>
                <a:cubicBezTo>
                  <a:pt x="0" y="28804"/>
                  <a:pt x="28804" y="0"/>
                  <a:pt x="64335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419448" y="4342797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链路退化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9448" y="4600148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D_link = w_link·PL/PL_max + w_int·g(I)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9448" y="4793161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g(I) = 10log₁₀(1 + I/I_ref)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2941" y="5147018"/>
            <a:ext cx="5549129" cy="643377"/>
          </a:xfrm>
          <a:custGeom>
            <a:avLst/>
            <a:gdLst/>
            <a:ahLst/>
            <a:cxnLst/>
            <a:rect l="l" t="t" r="r" b="b"/>
            <a:pathLst>
              <a:path w="5549129" h="643377">
                <a:moveTo>
                  <a:pt x="64338" y="0"/>
                </a:moveTo>
                <a:lnTo>
                  <a:pt x="5484792" y="0"/>
                </a:lnTo>
                <a:cubicBezTo>
                  <a:pt x="5520324" y="0"/>
                  <a:pt x="5549129" y="28805"/>
                  <a:pt x="5549129" y="64338"/>
                </a:cubicBezTo>
                <a:lnTo>
                  <a:pt x="5549129" y="579040"/>
                </a:lnTo>
                <a:cubicBezTo>
                  <a:pt x="5549129" y="614572"/>
                  <a:pt x="5520324" y="643377"/>
                  <a:pt x="5484792" y="643377"/>
                </a:cubicBezTo>
                <a:lnTo>
                  <a:pt x="64338" y="643377"/>
                </a:lnTo>
                <a:cubicBezTo>
                  <a:pt x="28805" y="643377"/>
                  <a:pt x="0" y="614572"/>
                  <a:pt x="0" y="579040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419448" y="5243525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CDI映射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9448" y="5500876"/>
            <a:ext cx="5420454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D_comm = 1 - exp(-CDI/scale)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1689" y="5890923"/>
            <a:ext cx="11548623" cy="8042"/>
          </a:xfrm>
          <a:custGeom>
            <a:avLst/>
            <a:gdLst/>
            <a:ahLst/>
            <a:cxnLst/>
            <a:rect l="l" t="t" r="r" b="b"/>
            <a:pathLst>
              <a:path w="11548623" h="8042">
                <a:moveTo>
                  <a:pt x="0" y="0"/>
                </a:moveTo>
                <a:lnTo>
                  <a:pt x="11548623" y="0"/>
                </a:lnTo>
                <a:lnTo>
                  <a:pt x="11548623" y="8042"/>
                </a:lnTo>
                <a:lnTo>
                  <a:pt x="0" y="804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41" name="Shape 39"/>
          <p:cNvSpPr/>
          <p:nvPr/>
        </p:nvSpPr>
        <p:spPr>
          <a:xfrm>
            <a:off x="321689" y="5991451"/>
            <a:ext cx="11548623" cy="868559"/>
          </a:xfrm>
          <a:custGeom>
            <a:avLst/>
            <a:gdLst/>
            <a:ahLst/>
            <a:cxnLst/>
            <a:rect l="l" t="t" r="r" b="b"/>
            <a:pathLst>
              <a:path w="11548623" h="868559">
                <a:moveTo>
                  <a:pt x="64334" y="0"/>
                </a:moveTo>
                <a:lnTo>
                  <a:pt x="11484288" y="0"/>
                </a:lnTo>
                <a:cubicBezTo>
                  <a:pt x="11519819" y="0"/>
                  <a:pt x="11548623" y="28803"/>
                  <a:pt x="11548623" y="64334"/>
                </a:cubicBezTo>
                <a:lnTo>
                  <a:pt x="11548623" y="804225"/>
                </a:lnTo>
                <a:cubicBezTo>
                  <a:pt x="11548623" y="839756"/>
                  <a:pt x="11519819" y="868559"/>
                  <a:pt x="11484288" y="868559"/>
                </a:cubicBezTo>
                <a:lnTo>
                  <a:pt x="64334" y="868559"/>
                </a:lnTo>
                <a:cubicBezTo>
                  <a:pt x="28803" y="868559"/>
                  <a:pt x="0" y="839756"/>
                  <a:pt x="0" y="804225"/>
                </a:cubicBezTo>
                <a:lnTo>
                  <a:pt x="0" y="64334"/>
                </a:lnTo>
                <a:cubicBezTo>
                  <a:pt x="0" y="28827"/>
                  <a:pt x="28827" y="0"/>
                  <a:pt x="64334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418195" y="6087958"/>
            <a:ext cx="11419947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最终退化分数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18195" y="6345309"/>
            <a:ext cx="11419947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D_total = w_comm·D_comm + w_speed·D_speed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18195" y="6570491"/>
            <a:ext cx="11419947" cy="1930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典型权重：w_comm=0.7, w_speed=0.3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406" y="380406"/>
            <a:ext cx="11507270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GA-GAN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0406" y="684730"/>
            <a:ext cx="11602371" cy="38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5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GA-GAN算法框架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426" y="1217298"/>
            <a:ext cx="38041" cy="5173516"/>
          </a:xfrm>
          <a:custGeom>
            <a:avLst/>
            <a:gdLst/>
            <a:ahLst/>
            <a:cxnLst/>
            <a:rect l="l" t="t" r="r" b="b"/>
            <a:pathLst>
              <a:path w="38041" h="5173516">
                <a:moveTo>
                  <a:pt x="0" y="0"/>
                </a:moveTo>
                <a:lnTo>
                  <a:pt x="38041" y="0"/>
                </a:lnTo>
                <a:lnTo>
                  <a:pt x="38041" y="5173516"/>
                </a:lnTo>
                <a:lnTo>
                  <a:pt x="0" y="5173516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570608" y="1217298"/>
            <a:ext cx="5544412" cy="266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遗传算法(GA)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0608" y="1597704"/>
            <a:ext cx="5449310" cy="2358515"/>
          </a:xfrm>
          <a:custGeom>
            <a:avLst/>
            <a:gdLst/>
            <a:ahLst/>
            <a:cxnLst/>
            <a:rect l="l" t="t" r="r" b="b"/>
            <a:pathLst>
              <a:path w="5449310" h="2358515">
                <a:moveTo>
                  <a:pt x="76086" y="0"/>
                </a:moveTo>
                <a:lnTo>
                  <a:pt x="5373225" y="0"/>
                </a:lnTo>
                <a:cubicBezTo>
                  <a:pt x="5415246" y="0"/>
                  <a:pt x="5449310" y="34065"/>
                  <a:pt x="5449310" y="76086"/>
                </a:cubicBezTo>
                <a:lnTo>
                  <a:pt x="5449310" y="2282429"/>
                </a:lnTo>
                <a:cubicBezTo>
                  <a:pt x="5449310" y="2324450"/>
                  <a:pt x="5415246" y="2358515"/>
                  <a:pt x="5373225" y="2358515"/>
                </a:cubicBezTo>
                <a:lnTo>
                  <a:pt x="76086" y="2358515"/>
                </a:lnTo>
                <a:cubicBezTo>
                  <a:pt x="34065" y="2358515"/>
                  <a:pt x="0" y="2324450"/>
                  <a:pt x="0" y="2282429"/>
                </a:cubicBezTo>
                <a:lnTo>
                  <a:pt x="0" y="76086"/>
                </a:lnTo>
                <a:cubicBezTo>
                  <a:pt x="0" y="34093"/>
                  <a:pt x="34093" y="0"/>
                  <a:pt x="76086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84730" y="1711825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染色体编码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4730" y="2016150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无人机高度 (num_drones)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4730" y="2282434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无人机速度 (num_drones)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4730" y="2548718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无人机位置XY (num_drones×2)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4730" y="2815002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干扰源类型 (num_interference)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4730" y="3081285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干扰源功率 (num_interference)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4730" y="3347569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干扰源位置类型 (num_interference)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4730" y="3613853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干扰源位置XY (num_interference×2)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0608" y="4032300"/>
            <a:ext cx="5449310" cy="989055"/>
          </a:xfrm>
          <a:custGeom>
            <a:avLst/>
            <a:gdLst/>
            <a:ahLst/>
            <a:cxnLst/>
            <a:rect l="l" t="t" r="r" b="b"/>
            <a:pathLst>
              <a:path w="5449310" h="989055">
                <a:moveTo>
                  <a:pt x="76078" y="0"/>
                </a:moveTo>
                <a:lnTo>
                  <a:pt x="5373232" y="0"/>
                </a:lnTo>
                <a:cubicBezTo>
                  <a:pt x="5415249" y="0"/>
                  <a:pt x="5449310" y="34061"/>
                  <a:pt x="5449310" y="76078"/>
                </a:cubicBezTo>
                <a:lnTo>
                  <a:pt x="5449310" y="912977"/>
                </a:lnTo>
                <a:cubicBezTo>
                  <a:pt x="5449310" y="954993"/>
                  <a:pt x="5415249" y="989055"/>
                  <a:pt x="5373232" y="989055"/>
                </a:cubicBezTo>
                <a:lnTo>
                  <a:pt x="76078" y="989055"/>
                </a:lnTo>
                <a:cubicBezTo>
                  <a:pt x="34061" y="989055"/>
                  <a:pt x="0" y="954993"/>
                  <a:pt x="0" y="912977"/>
                </a:cubicBezTo>
                <a:lnTo>
                  <a:pt x="0" y="76078"/>
                </a:lnTo>
                <a:cubicBezTo>
                  <a:pt x="0" y="34089"/>
                  <a:pt x="34089" y="0"/>
                  <a:pt x="76078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84730" y="4146421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适应度函数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4730" y="4450746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 = mean(D_total for all links)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4730" y="4678989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目标：最大化通信劣化程度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0608" y="5097435"/>
            <a:ext cx="5449310" cy="1293379"/>
          </a:xfrm>
          <a:custGeom>
            <a:avLst/>
            <a:gdLst/>
            <a:ahLst/>
            <a:cxnLst/>
            <a:rect l="l" t="t" r="r" b="b"/>
            <a:pathLst>
              <a:path w="5449310" h="1293379">
                <a:moveTo>
                  <a:pt x="76077" y="0"/>
                </a:moveTo>
                <a:lnTo>
                  <a:pt x="5373234" y="0"/>
                </a:lnTo>
                <a:cubicBezTo>
                  <a:pt x="5415250" y="0"/>
                  <a:pt x="5449310" y="34061"/>
                  <a:pt x="5449310" y="76077"/>
                </a:cubicBezTo>
                <a:lnTo>
                  <a:pt x="5449310" y="1217303"/>
                </a:lnTo>
                <a:cubicBezTo>
                  <a:pt x="5449310" y="1259318"/>
                  <a:pt x="5415250" y="1293379"/>
                  <a:pt x="5373234" y="1293379"/>
                </a:cubicBezTo>
                <a:lnTo>
                  <a:pt x="76077" y="1293379"/>
                </a:lnTo>
                <a:cubicBezTo>
                  <a:pt x="34061" y="1293379"/>
                  <a:pt x="0" y="1259318"/>
                  <a:pt x="0" y="1217303"/>
                </a:cubicBezTo>
                <a:lnTo>
                  <a:pt x="0" y="76077"/>
                </a:lnTo>
                <a:cubicBezTo>
                  <a:pt x="0" y="34061"/>
                  <a:pt x="34061" y="0"/>
                  <a:pt x="76077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84730" y="5211557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遗传操作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4730" y="5515881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锦标赛选择/轮盘赌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4730" y="5782165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交叉：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单点/多点交叉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4730" y="6048449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变异：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高斯变异+离散变量取整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89987" y="1217298"/>
            <a:ext cx="38041" cy="4222502"/>
          </a:xfrm>
          <a:custGeom>
            <a:avLst/>
            <a:gdLst/>
            <a:ahLst/>
            <a:cxnLst/>
            <a:rect l="l" t="t" r="r" b="b"/>
            <a:pathLst>
              <a:path w="38041" h="4222502">
                <a:moveTo>
                  <a:pt x="0" y="0"/>
                </a:moveTo>
                <a:lnTo>
                  <a:pt x="38041" y="0"/>
                </a:lnTo>
                <a:lnTo>
                  <a:pt x="38041" y="4222502"/>
                </a:lnTo>
                <a:lnTo>
                  <a:pt x="0" y="4222502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25" name="Text 23"/>
          <p:cNvSpPr/>
          <p:nvPr/>
        </p:nvSpPr>
        <p:spPr>
          <a:xfrm>
            <a:off x="6361169" y="1217298"/>
            <a:ext cx="5544412" cy="266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生成对抗网络(GAN)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61169" y="1597704"/>
            <a:ext cx="5449310" cy="1065136"/>
          </a:xfrm>
          <a:custGeom>
            <a:avLst/>
            <a:gdLst/>
            <a:ahLst/>
            <a:cxnLst/>
            <a:rect l="l" t="t" r="r" b="b"/>
            <a:pathLst>
              <a:path w="5449310" h="1065136">
                <a:moveTo>
                  <a:pt x="76083" y="0"/>
                </a:moveTo>
                <a:lnTo>
                  <a:pt x="5373228" y="0"/>
                </a:lnTo>
                <a:cubicBezTo>
                  <a:pt x="5415247" y="0"/>
                  <a:pt x="5449310" y="34063"/>
                  <a:pt x="5449310" y="76083"/>
                </a:cubicBezTo>
                <a:lnTo>
                  <a:pt x="5449310" y="989053"/>
                </a:lnTo>
                <a:cubicBezTo>
                  <a:pt x="5449310" y="1031072"/>
                  <a:pt x="5415247" y="1065136"/>
                  <a:pt x="5373228" y="1065136"/>
                </a:cubicBezTo>
                <a:lnTo>
                  <a:pt x="76083" y="1065136"/>
                </a:lnTo>
                <a:cubicBezTo>
                  <a:pt x="34063" y="1065136"/>
                  <a:pt x="0" y="1031072"/>
                  <a:pt x="0" y="989053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475291" y="1711825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生成器(Generator)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5291" y="2016150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z(latent_dim) → 128 → 256 → output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5291" y="2320474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激活：ReLU + Tanh输出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1169" y="2738920"/>
            <a:ext cx="5449310" cy="1065136"/>
          </a:xfrm>
          <a:custGeom>
            <a:avLst/>
            <a:gdLst/>
            <a:ahLst/>
            <a:cxnLst/>
            <a:rect l="l" t="t" r="r" b="b"/>
            <a:pathLst>
              <a:path w="5449310" h="1065136">
                <a:moveTo>
                  <a:pt x="76083" y="0"/>
                </a:moveTo>
                <a:lnTo>
                  <a:pt x="5373228" y="0"/>
                </a:lnTo>
                <a:cubicBezTo>
                  <a:pt x="5415247" y="0"/>
                  <a:pt x="5449310" y="34063"/>
                  <a:pt x="5449310" y="76083"/>
                </a:cubicBezTo>
                <a:lnTo>
                  <a:pt x="5449310" y="989053"/>
                </a:lnTo>
                <a:cubicBezTo>
                  <a:pt x="5449310" y="1031072"/>
                  <a:pt x="5415247" y="1065136"/>
                  <a:pt x="5373228" y="1065136"/>
                </a:cubicBezTo>
                <a:lnTo>
                  <a:pt x="76083" y="1065136"/>
                </a:lnTo>
                <a:cubicBezTo>
                  <a:pt x="34063" y="1065136"/>
                  <a:pt x="0" y="1031072"/>
                  <a:pt x="0" y="989053"/>
                </a:cubicBezTo>
                <a:lnTo>
                  <a:pt x="0" y="76083"/>
                </a:lnTo>
                <a:cubicBezTo>
                  <a:pt x="0" y="34091"/>
                  <a:pt x="34091" y="0"/>
                  <a:pt x="76083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75291" y="2853042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判别器(Discriminator)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5291" y="3157367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input → 256 → 128 → 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5291" y="3461691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激活：LeakyReLU(0.2) + Sigmoid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1169" y="3880137"/>
            <a:ext cx="5449310" cy="1559663"/>
          </a:xfrm>
          <a:custGeom>
            <a:avLst/>
            <a:gdLst/>
            <a:ahLst/>
            <a:cxnLst/>
            <a:rect l="l" t="t" r="r" b="b"/>
            <a:pathLst>
              <a:path w="5449310" h="1559663">
                <a:moveTo>
                  <a:pt x="76080" y="0"/>
                </a:moveTo>
                <a:lnTo>
                  <a:pt x="5373230" y="0"/>
                </a:lnTo>
                <a:cubicBezTo>
                  <a:pt x="5415248" y="0"/>
                  <a:pt x="5449310" y="34062"/>
                  <a:pt x="5449310" y="76080"/>
                </a:cubicBezTo>
                <a:lnTo>
                  <a:pt x="5449310" y="1483583"/>
                </a:lnTo>
                <a:cubicBezTo>
                  <a:pt x="5449310" y="1525601"/>
                  <a:pt x="5415248" y="1559663"/>
                  <a:pt x="5373230" y="1559663"/>
                </a:cubicBezTo>
                <a:lnTo>
                  <a:pt x="76080" y="1559663"/>
                </a:lnTo>
                <a:cubicBezTo>
                  <a:pt x="34062" y="1559663"/>
                  <a:pt x="0" y="1525601"/>
                  <a:pt x="0" y="1483583"/>
                </a:cubicBezTo>
                <a:lnTo>
                  <a:pt x="0" y="76080"/>
                </a:lnTo>
                <a:cubicBezTo>
                  <a:pt x="0" y="34062"/>
                  <a:pt x="34062" y="0"/>
                  <a:pt x="76080" y="0"/>
                </a:cubicBezTo>
                <a:close/>
              </a:path>
            </a:pathLst>
          </a:custGeom>
          <a:solidFill>
            <a:srgbClr val="86868B">
              <a:alpha val="5098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475291" y="3994259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训练配置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75291" y="4298583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优化器：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Adam (lr=2e-4, β=(0.5,0.999))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5291" y="4564867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损失函数：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BCELoss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5291" y="4831151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批量大小：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5291" y="5097435"/>
            <a:ext cx="5297148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训练轮数：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300 epochs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9987" y="5553922"/>
            <a:ext cx="38041" cy="836892"/>
          </a:xfrm>
          <a:custGeom>
            <a:avLst/>
            <a:gdLst/>
            <a:ahLst/>
            <a:cxnLst/>
            <a:rect l="l" t="t" r="r" b="b"/>
            <a:pathLst>
              <a:path w="38041" h="836892">
                <a:moveTo>
                  <a:pt x="0" y="0"/>
                </a:moveTo>
                <a:lnTo>
                  <a:pt x="38041" y="0"/>
                </a:lnTo>
                <a:lnTo>
                  <a:pt x="38041" y="836892"/>
                </a:lnTo>
                <a:lnTo>
                  <a:pt x="0" y="836892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41" name="Text 39"/>
          <p:cNvSpPr/>
          <p:nvPr/>
        </p:nvSpPr>
        <p:spPr>
          <a:xfrm>
            <a:off x="6361169" y="5553922"/>
            <a:ext cx="5534902" cy="2662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Pipeline流程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1169" y="5896287"/>
            <a:ext cx="5525392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 GA采样 → 2. 归一化 → 3. 离散修复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1169" y="6162571"/>
            <a:ext cx="5525392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 训练GAN → 5. 生成候选解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0406" y="6509691"/>
            <a:ext cx="11431189" cy="9510"/>
          </a:xfrm>
          <a:custGeom>
            <a:avLst/>
            <a:gdLst/>
            <a:ahLst/>
            <a:cxnLst/>
            <a:rect l="l" t="t" r="r" b="b"/>
            <a:pathLst>
              <a:path w="11431189" h="9510">
                <a:moveTo>
                  <a:pt x="0" y="0"/>
                </a:moveTo>
                <a:lnTo>
                  <a:pt x="11431189" y="0"/>
                </a:lnTo>
                <a:lnTo>
                  <a:pt x="11431189" y="9510"/>
                </a:lnTo>
                <a:lnTo>
                  <a:pt x="0" y="951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45" name="Shape 43"/>
          <p:cNvSpPr/>
          <p:nvPr/>
        </p:nvSpPr>
        <p:spPr>
          <a:xfrm>
            <a:off x="389916" y="665709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107227" y="357"/>
                </a:moveTo>
                <a:cubicBezTo>
                  <a:pt x="102175" y="-1100"/>
                  <a:pt x="96914" y="1843"/>
                  <a:pt x="95458" y="6895"/>
                </a:cubicBezTo>
                <a:lnTo>
                  <a:pt x="57417" y="140037"/>
                </a:lnTo>
                <a:cubicBezTo>
                  <a:pt x="55961" y="145089"/>
                  <a:pt x="58903" y="150349"/>
                  <a:pt x="63956" y="151806"/>
                </a:cubicBezTo>
                <a:cubicBezTo>
                  <a:pt x="69008" y="153262"/>
                  <a:pt x="74268" y="150320"/>
                  <a:pt x="75724" y="145267"/>
                </a:cubicBezTo>
                <a:lnTo>
                  <a:pt x="113765" y="12125"/>
                </a:lnTo>
                <a:cubicBezTo>
                  <a:pt x="115221" y="7073"/>
                  <a:pt x="112279" y="1813"/>
                  <a:pt x="107227" y="357"/>
                </a:cubicBezTo>
                <a:close/>
                <a:moveTo>
                  <a:pt x="126425" y="40804"/>
                </a:moveTo>
                <a:cubicBezTo>
                  <a:pt x="122711" y="44519"/>
                  <a:pt x="122711" y="50552"/>
                  <a:pt x="126425" y="54267"/>
                </a:cubicBezTo>
                <a:lnTo>
                  <a:pt x="148239" y="76081"/>
                </a:lnTo>
                <a:lnTo>
                  <a:pt x="126425" y="97895"/>
                </a:lnTo>
                <a:cubicBezTo>
                  <a:pt x="122711" y="101610"/>
                  <a:pt x="122711" y="107643"/>
                  <a:pt x="126425" y="111358"/>
                </a:cubicBezTo>
                <a:cubicBezTo>
                  <a:pt x="130140" y="115073"/>
                  <a:pt x="136173" y="115073"/>
                  <a:pt x="139888" y="111358"/>
                </a:cubicBezTo>
                <a:lnTo>
                  <a:pt x="168419" y="82827"/>
                </a:lnTo>
                <a:cubicBezTo>
                  <a:pt x="172134" y="79112"/>
                  <a:pt x="172134" y="73079"/>
                  <a:pt x="168419" y="69365"/>
                </a:cubicBezTo>
                <a:lnTo>
                  <a:pt x="139888" y="40834"/>
                </a:lnTo>
                <a:cubicBezTo>
                  <a:pt x="136173" y="37119"/>
                  <a:pt x="130140" y="37119"/>
                  <a:pt x="126425" y="40834"/>
                </a:cubicBezTo>
                <a:close/>
                <a:moveTo>
                  <a:pt x="44787" y="40804"/>
                </a:moveTo>
                <a:cubicBezTo>
                  <a:pt x="41072" y="37090"/>
                  <a:pt x="35039" y="37090"/>
                  <a:pt x="31324" y="40804"/>
                </a:cubicBezTo>
                <a:lnTo>
                  <a:pt x="2794" y="69335"/>
                </a:lnTo>
                <a:cubicBezTo>
                  <a:pt x="-921" y="73050"/>
                  <a:pt x="-921" y="79083"/>
                  <a:pt x="2794" y="82798"/>
                </a:cubicBezTo>
                <a:lnTo>
                  <a:pt x="31324" y="111328"/>
                </a:lnTo>
                <a:cubicBezTo>
                  <a:pt x="35039" y="115043"/>
                  <a:pt x="41072" y="115043"/>
                  <a:pt x="44787" y="111328"/>
                </a:cubicBezTo>
                <a:cubicBezTo>
                  <a:pt x="48502" y="107613"/>
                  <a:pt x="48502" y="101580"/>
                  <a:pt x="44787" y="97865"/>
                </a:cubicBezTo>
                <a:lnTo>
                  <a:pt x="22973" y="76081"/>
                </a:lnTo>
                <a:lnTo>
                  <a:pt x="44757" y="54267"/>
                </a:lnTo>
                <a:cubicBezTo>
                  <a:pt x="48472" y="50552"/>
                  <a:pt x="48472" y="44519"/>
                  <a:pt x="44757" y="40804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6" name="Text 44"/>
          <p:cNvSpPr/>
          <p:nvPr/>
        </p:nvSpPr>
        <p:spPr>
          <a:xfrm>
            <a:off x="627580" y="6628568"/>
            <a:ext cx="5468420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Geatpy: soea_SEGA_templet | NIND=30, MAXGEN=40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0477" y="6657098"/>
            <a:ext cx="171183" cy="152162"/>
          </a:xfrm>
          <a:custGeom>
            <a:avLst/>
            <a:gdLst/>
            <a:ahLst/>
            <a:cxnLst/>
            <a:rect l="l" t="t" r="r" b="b"/>
            <a:pathLst>
              <a:path w="171183" h="152162">
                <a:moveTo>
                  <a:pt x="107227" y="357"/>
                </a:moveTo>
                <a:cubicBezTo>
                  <a:pt x="102175" y="-1100"/>
                  <a:pt x="96914" y="1843"/>
                  <a:pt x="95458" y="6895"/>
                </a:cubicBezTo>
                <a:lnTo>
                  <a:pt x="57417" y="140037"/>
                </a:lnTo>
                <a:cubicBezTo>
                  <a:pt x="55961" y="145089"/>
                  <a:pt x="58903" y="150349"/>
                  <a:pt x="63956" y="151806"/>
                </a:cubicBezTo>
                <a:cubicBezTo>
                  <a:pt x="69008" y="153262"/>
                  <a:pt x="74268" y="150320"/>
                  <a:pt x="75724" y="145267"/>
                </a:cubicBezTo>
                <a:lnTo>
                  <a:pt x="113765" y="12125"/>
                </a:lnTo>
                <a:cubicBezTo>
                  <a:pt x="115221" y="7073"/>
                  <a:pt x="112279" y="1813"/>
                  <a:pt x="107227" y="357"/>
                </a:cubicBezTo>
                <a:close/>
                <a:moveTo>
                  <a:pt x="126425" y="40804"/>
                </a:moveTo>
                <a:cubicBezTo>
                  <a:pt x="122711" y="44519"/>
                  <a:pt x="122711" y="50552"/>
                  <a:pt x="126425" y="54267"/>
                </a:cubicBezTo>
                <a:lnTo>
                  <a:pt x="148239" y="76081"/>
                </a:lnTo>
                <a:lnTo>
                  <a:pt x="126425" y="97895"/>
                </a:lnTo>
                <a:cubicBezTo>
                  <a:pt x="122711" y="101610"/>
                  <a:pt x="122711" y="107643"/>
                  <a:pt x="126425" y="111358"/>
                </a:cubicBezTo>
                <a:cubicBezTo>
                  <a:pt x="130140" y="115073"/>
                  <a:pt x="136173" y="115073"/>
                  <a:pt x="139888" y="111358"/>
                </a:cubicBezTo>
                <a:lnTo>
                  <a:pt x="168419" y="82827"/>
                </a:lnTo>
                <a:cubicBezTo>
                  <a:pt x="172134" y="79112"/>
                  <a:pt x="172134" y="73079"/>
                  <a:pt x="168419" y="69365"/>
                </a:cubicBezTo>
                <a:lnTo>
                  <a:pt x="139888" y="40834"/>
                </a:lnTo>
                <a:cubicBezTo>
                  <a:pt x="136173" y="37119"/>
                  <a:pt x="130140" y="37119"/>
                  <a:pt x="126425" y="40834"/>
                </a:cubicBezTo>
                <a:close/>
                <a:moveTo>
                  <a:pt x="44787" y="40804"/>
                </a:moveTo>
                <a:cubicBezTo>
                  <a:pt x="41072" y="37090"/>
                  <a:pt x="35039" y="37090"/>
                  <a:pt x="31324" y="40804"/>
                </a:cubicBezTo>
                <a:lnTo>
                  <a:pt x="2794" y="69335"/>
                </a:lnTo>
                <a:cubicBezTo>
                  <a:pt x="-921" y="73050"/>
                  <a:pt x="-921" y="79083"/>
                  <a:pt x="2794" y="82798"/>
                </a:cubicBezTo>
                <a:lnTo>
                  <a:pt x="31324" y="111328"/>
                </a:lnTo>
                <a:cubicBezTo>
                  <a:pt x="35039" y="115043"/>
                  <a:pt x="41072" y="115043"/>
                  <a:pt x="44787" y="111328"/>
                </a:cubicBezTo>
                <a:cubicBezTo>
                  <a:pt x="48502" y="107613"/>
                  <a:pt x="48502" y="101580"/>
                  <a:pt x="44787" y="97865"/>
                </a:cubicBezTo>
                <a:lnTo>
                  <a:pt x="22973" y="76081"/>
                </a:lnTo>
                <a:lnTo>
                  <a:pt x="44757" y="54267"/>
                </a:lnTo>
                <a:cubicBezTo>
                  <a:pt x="48472" y="50552"/>
                  <a:pt x="48472" y="44519"/>
                  <a:pt x="44757" y="40804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8" name="Text 46"/>
          <p:cNvSpPr/>
          <p:nvPr/>
        </p:nvSpPr>
        <p:spPr>
          <a:xfrm>
            <a:off x="6418141" y="6628568"/>
            <a:ext cx="5468420" cy="228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PyTorch: MLP Generator/Discriminator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COMPARISON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GA/GAN与随机模型对比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81000" y="1219200"/>
          <a:ext cx="11430000" cy="2343150"/>
        </p:xfrm>
        <a:graphic>
          <a:graphicData uri="http://schemas.openxmlformats.org/drawingml/2006/table">
            <a:tbl>
              <a:tblPr/>
              <a:tblGrid>
                <a:gridCol w="2876550"/>
                <a:gridCol w="1924050"/>
                <a:gridCol w="2133600"/>
                <a:gridCol w="2600325"/>
                <a:gridCol w="1895475"/>
              </a:tblGrid>
              <a:tr h="3905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GA (mean±std)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GAN (mean±std)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Random (mean±std)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GA vs Random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avg_total_deg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0.72±0.08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0.68±0.10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0.45±0.15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+60%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avg_comm_deg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0.75±0.07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0.71±0.09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0.48±0.14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+56%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avg_cdi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0.68±0.09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0.65±0.11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0.42±0.16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+62%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avg_interference_dbm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-65±5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-68±6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-82±8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+17dB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avg_margin_db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-8±4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-10±5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1D1D1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5±7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071E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-13dB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0050" y="3714750"/>
            <a:ext cx="38100" cy="2295525"/>
          </a:xfrm>
          <a:custGeom>
            <a:avLst/>
            <a:gdLst/>
            <a:ahLst/>
            <a:cxnLst/>
            <a:rect l="l" t="t" r="r" b="b"/>
            <a:pathLst>
              <a:path w="38100" h="2295525">
                <a:moveTo>
                  <a:pt x="0" y="0"/>
                </a:moveTo>
                <a:lnTo>
                  <a:pt x="38100" y="0"/>
                </a:lnTo>
                <a:lnTo>
                  <a:pt x="38100" y="2295525"/>
                </a:lnTo>
                <a:lnTo>
                  <a:pt x="0" y="229552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6" name="Text 3"/>
          <p:cNvSpPr/>
          <p:nvPr/>
        </p:nvSpPr>
        <p:spPr>
          <a:xfrm>
            <a:off x="571500" y="3714750"/>
            <a:ext cx="3600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GA优势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40576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能发现</a:t>
            </a:r>
            <a:r>
              <a:rPr lang="en-US" sz="1200" dirty="0">
                <a:solidFill>
                  <a:srgbClr val="1D1D1D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更极端 </a:t>
            </a: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的劣化场景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43624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通过进化搜索全局最优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" y="46672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适应度直接对应劣化程度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49720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适合寻找"最坏情况"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60800" y="3714750"/>
            <a:ext cx="38100" cy="2295525"/>
          </a:xfrm>
          <a:custGeom>
            <a:avLst/>
            <a:gdLst/>
            <a:ahLst/>
            <a:cxnLst/>
            <a:rect l="l" t="t" r="r" b="b"/>
            <a:pathLst>
              <a:path w="38100" h="2295525">
                <a:moveTo>
                  <a:pt x="0" y="0"/>
                </a:moveTo>
                <a:lnTo>
                  <a:pt x="38100" y="0"/>
                </a:lnTo>
                <a:lnTo>
                  <a:pt x="38100" y="2295525"/>
                </a:lnTo>
                <a:lnTo>
                  <a:pt x="0" y="2295525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4" name="Text 9"/>
          <p:cNvSpPr/>
          <p:nvPr/>
        </p:nvSpPr>
        <p:spPr>
          <a:xfrm>
            <a:off x="4432250" y="3714750"/>
            <a:ext cx="3600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GAN优势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32250" y="40576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学习GA分布后</a:t>
            </a:r>
            <a:r>
              <a:rPr lang="en-US" sz="1200" dirty="0">
                <a:solidFill>
                  <a:srgbClr val="1D1D1D"/>
                </a:solidFill>
                <a:highlight>
                  <a:srgbClr val="86868B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生成效率更高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32250" y="43624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无需重复运行GA优化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32250" y="46672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可生成大量多样化样本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32250" y="49720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适合批量场景生成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21625" y="3714750"/>
            <a:ext cx="38100" cy="2295525"/>
          </a:xfrm>
          <a:custGeom>
            <a:avLst/>
            <a:gdLst/>
            <a:ahLst/>
            <a:cxnLst/>
            <a:rect l="l" t="t" r="r" b="b"/>
            <a:pathLst>
              <a:path w="38100" h="2295525">
                <a:moveTo>
                  <a:pt x="0" y="0"/>
                </a:moveTo>
                <a:lnTo>
                  <a:pt x="38100" y="0"/>
                </a:lnTo>
                <a:lnTo>
                  <a:pt x="38100" y="2295525"/>
                </a:lnTo>
                <a:lnTo>
                  <a:pt x="0" y="229552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8" name="Text 15"/>
          <p:cNvSpPr/>
          <p:nvPr/>
        </p:nvSpPr>
        <p:spPr>
          <a:xfrm>
            <a:off x="8293075" y="3714750"/>
            <a:ext cx="3600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对比结论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93075" y="40576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GA/GAN均显著优于Random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93075" y="43624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GA发现的劣化程度最高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93075" y="46672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GAN接近GA性能但更快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93075" y="4972050"/>
            <a:ext cx="3590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Random作为baseline验证方法有效性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24" name="Shape 21"/>
          <p:cNvSpPr/>
          <p:nvPr/>
        </p:nvSpPr>
        <p:spPr>
          <a:xfrm>
            <a:off x="400050" y="6276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5" name="Text 22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对比脚本：compare_random_ga_gan.py | 统计量：mean/std/p10/p50/p90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RESEARCH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D"/>
                </a:solidFill>
                <a:latin typeface="得意黑" pitchFamily="34" charset="-122"/>
                <a:ea typeface="得意黑" pitchFamily="34" charset="-122"/>
                <a:cs typeface="得意黑" pitchFamily="34" charset="-120"/>
              </a:rPr>
              <a:t>研究成果与创新点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373981"/>
            <a:ext cx="3638550" cy="1962150"/>
          </a:xfrm>
          <a:custGeom>
            <a:avLst/>
            <a:gdLst/>
            <a:ahLst/>
            <a:cxnLst/>
            <a:rect l="l" t="t" r="r" b="b"/>
            <a:pathLst>
              <a:path w="3638550" h="1962150">
                <a:moveTo>
                  <a:pt x="76190" y="0"/>
                </a:moveTo>
                <a:lnTo>
                  <a:pt x="3562360" y="0"/>
                </a:lnTo>
                <a:cubicBezTo>
                  <a:pt x="3604410" y="0"/>
                  <a:pt x="3638550" y="34140"/>
                  <a:pt x="3638550" y="76190"/>
                </a:cubicBezTo>
                <a:lnTo>
                  <a:pt x="3638550" y="1885960"/>
                </a:lnTo>
                <a:cubicBezTo>
                  <a:pt x="3638550" y="1928010"/>
                  <a:pt x="3604410" y="1962150"/>
                  <a:pt x="3562360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15740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6" name="Shape 4"/>
          <p:cNvSpPr/>
          <p:nvPr/>
        </p:nvSpPr>
        <p:spPr>
          <a:xfrm>
            <a:off x="2124075" y="172640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542925" y="2259806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通信劣化评估公式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2640806"/>
            <a:ext cx="33147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Margin模型与CDI模型结合，物理可解释性强，工程实用性高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6725" y="1373981"/>
            <a:ext cx="3638550" cy="1962150"/>
          </a:xfrm>
          <a:custGeom>
            <a:avLst/>
            <a:gdLst/>
            <a:ahLst/>
            <a:cxnLst/>
            <a:rect l="l" t="t" r="r" b="b"/>
            <a:pathLst>
              <a:path w="3638550" h="1962150">
                <a:moveTo>
                  <a:pt x="76190" y="0"/>
                </a:moveTo>
                <a:lnTo>
                  <a:pt x="3562360" y="0"/>
                </a:lnTo>
                <a:cubicBezTo>
                  <a:pt x="3604410" y="0"/>
                  <a:pt x="3638550" y="34140"/>
                  <a:pt x="3638550" y="76190"/>
                </a:cubicBezTo>
                <a:lnTo>
                  <a:pt x="3638550" y="1885960"/>
                </a:lnTo>
                <a:cubicBezTo>
                  <a:pt x="3638550" y="1928010"/>
                  <a:pt x="3604410" y="1962150"/>
                  <a:pt x="3562360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29300" y="15740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1" name="Shape 9"/>
          <p:cNvSpPr/>
          <p:nvPr/>
        </p:nvSpPr>
        <p:spPr>
          <a:xfrm>
            <a:off x="5967413" y="172640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75" y="0"/>
                </a:moveTo>
                <a:cubicBezTo>
                  <a:pt x="127114" y="0"/>
                  <a:pt x="114300" y="12814"/>
                  <a:pt x="114300" y="28575"/>
                </a:cubicBezTo>
                <a:lnTo>
                  <a:pt x="114300" y="42863"/>
                </a:lnTo>
                <a:lnTo>
                  <a:pt x="92869" y="42863"/>
                </a:lnTo>
                <a:lnTo>
                  <a:pt x="92869" y="10716"/>
                </a:lnTo>
                <a:cubicBezTo>
                  <a:pt x="92869" y="4777"/>
                  <a:pt x="88091" y="0"/>
                  <a:pt x="82153" y="0"/>
                </a:cubicBezTo>
                <a:cubicBezTo>
                  <a:pt x="76215" y="0"/>
                  <a:pt x="71438" y="4777"/>
                  <a:pt x="71438" y="10716"/>
                </a:cubicBezTo>
                <a:lnTo>
                  <a:pt x="71438" y="42863"/>
                </a:lnTo>
                <a:lnTo>
                  <a:pt x="42863" y="42863"/>
                </a:lnTo>
                <a:lnTo>
                  <a:pt x="42863" y="10716"/>
                </a:lnTo>
                <a:cubicBezTo>
                  <a:pt x="42863" y="4777"/>
                  <a:pt x="38085" y="0"/>
                  <a:pt x="32147" y="0"/>
                </a:cubicBezTo>
                <a:cubicBezTo>
                  <a:pt x="26209" y="0"/>
                  <a:pt x="21431" y="4777"/>
                  <a:pt x="21431" y="10716"/>
                </a:cubicBezTo>
                <a:lnTo>
                  <a:pt x="21431" y="43755"/>
                </a:lnTo>
                <a:cubicBezTo>
                  <a:pt x="9108" y="46926"/>
                  <a:pt x="0" y="58132"/>
                  <a:pt x="0" y="71438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228600" y="228600"/>
                </a:lnTo>
                <a:cubicBezTo>
                  <a:pt x="244361" y="228600"/>
                  <a:pt x="257175" y="215786"/>
                  <a:pt x="257175" y="200025"/>
                </a:cubicBezTo>
                <a:lnTo>
                  <a:pt x="257175" y="114300"/>
                </a:lnTo>
                <a:cubicBezTo>
                  <a:pt x="257175" y="98539"/>
                  <a:pt x="244361" y="85725"/>
                  <a:pt x="228600" y="85725"/>
                </a:cubicBezTo>
                <a:lnTo>
                  <a:pt x="200025" y="85725"/>
                </a:lnTo>
                <a:lnTo>
                  <a:pt x="200025" y="28575"/>
                </a:lnTo>
                <a:cubicBezTo>
                  <a:pt x="200025" y="12814"/>
                  <a:pt x="187211" y="0"/>
                  <a:pt x="171450" y="0"/>
                </a:cubicBezTo>
                <a:lnTo>
                  <a:pt x="142875" y="0"/>
                </a:lnTo>
                <a:close/>
                <a:moveTo>
                  <a:pt x="171450" y="50006"/>
                </a:moveTo>
                <a:lnTo>
                  <a:pt x="171450" y="64294"/>
                </a:lnTo>
                <a:cubicBezTo>
                  <a:pt x="171450" y="68223"/>
                  <a:pt x="168235" y="71438"/>
                  <a:pt x="164306" y="71438"/>
                </a:cubicBezTo>
                <a:lnTo>
                  <a:pt x="150019" y="71438"/>
                </a:lnTo>
                <a:cubicBezTo>
                  <a:pt x="146090" y="71438"/>
                  <a:pt x="142875" y="68223"/>
                  <a:pt x="142875" y="64294"/>
                </a:cubicBezTo>
                <a:lnTo>
                  <a:pt x="142875" y="50006"/>
                </a:lnTo>
                <a:cubicBezTo>
                  <a:pt x="142875" y="46077"/>
                  <a:pt x="146090" y="42863"/>
                  <a:pt x="150019" y="42863"/>
                </a:cubicBezTo>
                <a:lnTo>
                  <a:pt x="164306" y="42863"/>
                </a:lnTo>
                <a:cubicBezTo>
                  <a:pt x="168235" y="42863"/>
                  <a:pt x="171450" y="46077"/>
                  <a:pt x="171450" y="50006"/>
                </a:cubicBezTo>
                <a:close/>
                <a:moveTo>
                  <a:pt x="164306" y="85725"/>
                </a:moveTo>
                <a:cubicBezTo>
                  <a:pt x="168235" y="85725"/>
                  <a:pt x="171450" y="88940"/>
                  <a:pt x="171450" y="92869"/>
                </a:cubicBezTo>
                <a:lnTo>
                  <a:pt x="171450" y="107156"/>
                </a:lnTo>
                <a:cubicBezTo>
                  <a:pt x="171450" y="111085"/>
                  <a:pt x="168235" y="114300"/>
                  <a:pt x="164306" y="114300"/>
                </a:cubicBezTo>
                <a:lnTo>
                  <a:pt x="150019" y="114300"/>
                </a:lnTo>
                <a:cubicBezTo>
                  <a:pt x="146090" y="114300"/>
                  <a:pt x="142875" y="111085"/>
                  <a:pt x="142875" y="107156"/>
                </a:cubicBezTo>
                <a:lnTo>
                  <a:pt x="142875" y="92869"/>
                </a:lnTo>
                <a:cubicBezTo>
                  <a:pt x="142875" y="88940"/>
                  <a:pt x="146090" y="85725"/>
                  <a:pt x="150019" y="85725"/>
                </a:cubicBezTo>
                <a:lnTo>
                  <a:pt x="164306" y="85725"/>
                </a:lnTo>
                <a:close/>
                <a:moveTo>
                  <a:pt x="171450" y="135731"/>
                </a:moveTo>
                <a:lnTo>
                  <a:pt x="171450" y="150019"/>
                </a:lnTo>
                <a:cubicBezTo>
                  <a:pt x="171450" y="153948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53948"/>
                  <a:pt x="142875" y="150019"/>
                </a:cubicBezTo>
                <a:lnTo>
                  <a:pt x="142875" y="135731"/>
                </a:lnTo>
                <a:cubicBezTo>
                  <a:pt x="142875" y="131802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31802"/>
                  <a:pt x="171450" y="135731"/>
                </a:cubicBezTo>
                <a:close/>
                <a:moveTo>
                  <a:pt x="221456" y="128588"/>
                </a:moveTo>
                <a:cubicBezTo>
                  <a:pt x="225385" y="128588"/>
                  <a:pt x="228600" y="131802"/>
                  <a:pt x="228600" y="135731"/>
                </a:cubicBezTo>
                <a:lnTo>
                  <a:pt x="228600" y="150019"/>
                </a:lnTo>
                <a:cubicBezTo>
                  <a:pt x="228600" y="153948"/>
                  <a:pt x="225385" y="157163"/>
                  <a:pt x="221456" y="157163"/>
                </a:cubicBezTo>
                <a:lnTo>
                  <a:pt x="207169" y="157163"/>
                </a:lnTo>
                <a:cubicBezTo>
                  <a:pt x="203240" y="157163"/>
                  <a:pt x="200025" y="153948"/>
                  <a:pt x="200025" y="150019"/>
                </a:cubicBezTo>
                <a:lnTo>
                  <a:pt x="200025" y="135731"/>
                </a:lnTo>
                <a:cubicBezTo>
                  <a:pt x="200025" y="131802"/>
                  <a:pt x="203240" y="128588"/>
                  <a:pt x="207169" y="128588"/>
                </a:cubicBezTo>
                <a:lnTo>
                  <a:pt x="221456" y="128588"/>
                </a:lnTo>
                <a:close/>
                <a:moveTo>
                  <a:pt x="114300" y="135731"/>
                </a:moveTo>
                <a:lnTo>
                  <a:pt x="114300" y="150019"/>
                </a:lnTo>
                <a:cubicBezTo>
                  <a:pt x="114300" y="153948"/>
                  <a:pt x="111085" y="157163"/>
                  <a:pt x="107156" y="157163"/>
                </a:cubicBezTo>
                <a:lnTo>
                  <a:pt x="92869" y="157163"/>
                </a:lnTo>
                <a:cubicBezTo>
                  <a:pt x="88940" y="157163"/>
                  <a:pt x="85725" y="153948"/>
                  <a:pt x="85725" y="150019"/>
                </a:cubicBezTo>
                <a:lnTo>
                  <a:pt x="85725" y="135731"/>
                </a:lnTo>
                <a:cubicBezTo>
                  <a:pt x="85725" y="131802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31802"/>
                  <a:pt x="114300" y="135731"/>
                </a:cubicBezTo>
                <a:close/>
                <a:moveTo>
                  <a:pt x="107156" y="85725"/>
                </a:moveTo>
                <a:cubicBezTo>
                  <a:pt x="111085" y="85725"/>
                  <a:pt x="114300" y="88940"/>
                  <a:pt x="114300" y="92869"/>
                </a:cubicBezTo>
                <a:lnTo>
                  <a:pt x="114300" y="107156"/>
                </a:lnTo>
                <a:cubicBezTo>
                  <a:pt x="114300" y="111085"/>
                  <a:pt x="111085" y="114300"/>
                  <a:pt x="107156" y="114300"/>
                </a:cubicBezTo>
                <a:lnTo>
                  <a:pt x="92869" y="114300"/>
                </a:lnTo>
                <a:cubicBezTo>
                  <a:pt x="88940" y="114300"/>
                  <a:pt x="85725" y="111085"/>
                  <a:pt x="85725" y="107156"/>
                </a:cubicBezTo>
                <a:lnTo>
                  <a:pt x="85725" y="92869"/>
                </a:lnTo>
                <a:cubicBezTo>
                  <a:pt x="85725" y="88940"/>
                  <a:pt x="88940" y="85725"/>
                  <a:pt x="92869" y="85725"/>
                </a:cubicBezTo>
                <a:lnTo>
                  <a:pt x="107156" y="85725"/>
                </a:lnTo>
                <a:close/>
                <a:moveTo>
                  <a:pt x="57150" y="135731"/>
                </a:moveTo>
                <a:lnTo>
                  <a:pt x="57150" y="150019"/>
                </a:lnTo>
                <a:cubicBezTo>
                  <a:pt x="57150" y="153948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53948"/>
                  <a:pt x="28575" y="150019"/>
                </a:cubicBezTo>
                <a:lnTo>
                  <a:pt x="28575" y="135731"/>
                </a:lnTo>
                <a:cubicBezTo>
                  <a:pt x="28575" y="131802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31802"/>
                  <a:pt x="57150" y="135731"/>
                </a:cubicBezTo>
                <a:close/>
                <a:moveTo>
                  <a:pt x="50006" y="85725"/>
                </a:moveTo>
                <a:cubicBezTo>
                  <a:pt x="53935" y="85725"/>
                  <a:pt x="57150" y="88940"/>
                  <a:pt x="57150" y="92869"/>
                </a:cubicBezTo>
                <a:lnTo>
                  <a:pt x="57150" y="107156"/>
                </a:lnTo>
                <a:cubicBezTo>
                  <a:pt x="57150" y="111085"/>
                  <a:pt x="53935" y="114300"/>
                  <a:pt x="50006" y="114300"/>
                </a:cubicBezTo>
                <a:lnTo>
                  <a:pt x="35719" y="114300"/>
                </a:lnTo>
                <a:cubicBezTo>
                  <a:pt x="31790" y="114300"/>
                  <a:pt x="28575" y="111085"/>
                  <a:pt x="28575" y="107156"/>
                </a:cubicBezTo>
                <a:lnTo>
                  <a:pt x="28575" y="92869"/>
                </a:lnTo>
                <a:cubicBezTo>
                  <a:pt x="28575" y="88940"/>
                  <a:pt x="31790" y="85725"/>
                  <a:pt x="35719" y="85725"/>
                </a:cubicBezTo>
                <a:lnTo>
                  <a:pt x="50006" y="857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4429125" y="2259806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城市场景建模方法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8650" y="2640806"/>
            <a:ext cx="33147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ITU参数化建筑物生成，语义层约束，多类型干扰源耦合建模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62925" y="1373981"/>
            <a:ext cx="3638550" cy="1962150"/>
          </a:xfrm>
          <a:custGeom>
            <a:avLst/>
            <a:gdLst/>
            <a:ahLst/>
            <a:cxnLst/>
            <a:rect l="l" t="t" r="r" b="b"/>
            <a:pathLst>
              <a:path w="3638550" h="1962150">
                <a:moveTo>
                  <a:pt x="76190" y="0"/>
                </a:moveTo>
                <a:lnTo>
                  <a:pt x="3562360" y="0"/>
                </a:lnTo>
                <a:cubicBezTo>
                  <a:pt x="3604410" y="0"/>
                  <a:pt x="3638550" y="34140"/>
                  <a:pt x="3638550" y="76190"/>
                </a:cubicBezTo>
                <a:lnTo>
                  <a:pt x="3638550" y="1885960"/>
                </a:lnTo>
                <a:cubicBezTo>
                  <a:pt x="3638550" y="1928010"/>
                  <a:pt x="3604410" y="1962150"/>
                  <a:pt x="3562360" y="1962150"/>
                </a:cubicBezTo>
                <a:lnTo>
                  <a:pt x="76190" y="1962150"/>
                </a:lnTo>
                <a:cubicBezTo>
                  <a:pt x="34140" y="1962150"/>
                  <a:pt x="0" y="1928010"/>
                  <a:pt x="0" y="1885960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15500" y="15740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6" name="Shape 14"/>
          <p:cNvSpPr/>
          <p:nvPr/>
        </p:nvSpPr>
        <p:spPr>
          <a:xfrm>
            <a:off x="9867900" y="17264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8315325" y="2259806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GA-GAN生成框架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4850" y="2640806"/>
            <a:ext cx="33147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遗传算法搜索极限场景，GAN学习分布快速生成，对比验证有效性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650456"/>
            <a:ext cx="38100" cy="1762125"/>
          </a:xfrm>
          <a:custGeom>
            <a:avLst/>
            <a:gdLst/>
            <a:ahLst/>
            <a:cxnLst/>
            <a:rect l="l" t="t" r="r" b="b"/>
            <a:pathLst>
              <a:path w="38100" h="1762125">
                <a:moveTo>
                  <a:pt x="0" y="0"/>
                </a:moveTo>
                <a:lnTo>
                  <a:pt x="38100" y="0"/>
                </a:lnTo>
                <a:lnTo>
                  <a:pt x="38100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0" name="Text 18"/>
          <p:cNvSpPr/>
          <p:nvPr/>
        </p:nvSpPr>
        <p:spPr>
          <a:xfrm>
            <a:off x="647700" y="3802856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700" y="4260056"/>
            <a:ext cx="112585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500" dirty="0">
                <a:solidFill>
                  <a:srgbClr val="1D1D1D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通信物理模型 </a:t>
            </a:r>
            <a:r>
              <a:rPr lang="en-US" sz="15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500" dirty="0">
                <a:solidFill>
                  <a:srgbClr val="1D1D1D"/>
                </a:solidFill>
                <a:highlight>
                  <a:srgbClr val="0071E3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智能优化算法 </a:t>
            </a:r>
            <a:r>
              <a:rPr lang="en-US" sz="15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深度结合，实现可解释的极限压力测试场景自动生成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275" y="47505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3" name="Text 21"/>
          <p:cNvSpPr/>
          <p:nvPr/>
        </p:nvSpPr>
        <p:spPr>
          <a:xfrm>
            <a:off x="895350" y="472201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多维度劣化评估（通信+能效）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275" y="50172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5" name="Text 23"/>
          <p:cNvSpPr/>
          <p:nvPr/>
        </p:nvSpPr>
        <p:spPr>
          <a:xfrm>
            <a:off x="895350" y="498871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高保真城市场景建模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4125" y="47505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7" name="Text 25"/>
          <p:cNvSpPr/>
          <p:nvPr/>
        </p:nvSpPr>
        <p:spPr>
          <a:xfrm>
            <a:off x="6553200" y="472201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智能极限场景生成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4125" y="50172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9" name="Text 27"/>
          <p:cNvSpPr/>
          <p:nvPr/>
        </p:nvSpPr>
        <p:spPr>
          <a:xfrm>
            <a:off x="6553200" y="498871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系统化对比验证框架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710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1" name="Shape 29"/>
          <p:cNvSpPr/>
          <p:nvPr/>
        </p:nvSpPr>
        <p:spPr>
          <a:xfrm>
            <a:off x="390525" y="61245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2" name="Text 30"/>
          <p:cNvSpPr/>
          <p:nvPr/>
        </p:nvSpPr>
        <p:spPr>
          <a:xfrm>
            <a:off x="628650" y="6096000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UAV_GA.py | gan_uav_pipeline.py | compare_random_ga_gan.py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20400" y="62484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5713</Words>
  <Application>WPS 演示</Application>
  <PresentationFormat>On-screen Show (16:9)</PresentationFormat>
  <Paragraphs>725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MiSans</vt:lpstr>
      <vt:lpstr>MiSans</vt:lpstr>
      <vt:lpstr>得意黑</vt:lpstr>
      <vt:lpstr>得意黑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无人机通信劣化评估与极限场景生成研究</dc:title>
  <dc:creator>Kimi</dc:creator>
  <dc:subject>无人机通信劣化评估与极限场景生成研究</dc:subject>
  <cp:lastModifiedBy>morty</cp:lastModifiedBy>
  <cp:revision>2</cp:revision>
  <dcterms:created xsi:type="dcterms:W3CDTF">2026-02-12T09:29:00Z</dcterms:created>
  <dcterms:modified xsi:type="dcterms:W3CDTF">2026-02-13T08:33:27Z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无人机通信劣化评估与极限场景生成研究","ContentProducer":"001191110108MACG2KBH8F10000","ProduceID":"19c511ed-9f42-8afc-8000-0000c9fff14a","ReservedCode1":"","ContentPropagator":"001191110108MACG2KBH8F20000","PropagateID":"19c511ed-9f42-8afc-8000-0000c9fff14a","ReservedCode2":""}</vt:lpwstr>
  </property>
  <property fmtid="{D5CDD505-2E9C-101B-9397-08002B2CF9AE}" pid="3" name="ICV">
    <vt:lpwstr>F844111352DA4A6AB315D2A7C162A6D4_12</vt:lpwstr>
  </property>
  <property fmtid="{D5CDD505-2E9C-101B-9397-08002B2CF9AE}" pid="4" name="KSOProductBuildVer">
    <vt:lpwstr>2052-12.1.0.25222</vt:lpwstr>
  </property>
</Properties>
</file>
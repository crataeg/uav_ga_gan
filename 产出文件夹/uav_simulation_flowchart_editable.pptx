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11338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GA-GAN 的城市无人机通信仿真工程：总体流程框图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1155680" cy="0"/>
          </a:xfrm>
          <a:prstGeom prst="line">
            <a:avLst/>
          </a:prstGeom>
          <a:noFill/>
          <a:ln w="19050">
            <a:solidFill>
              <a:srgbClr val="C8D2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950976"/>
            <a:ext cx="274320" cy="914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429000" y="950976"/>
            <a:ext cx="45720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00600" y="1188720"/>
            <a:ext cx="0" cy="4572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508760" y="1188720"/>
            <a:ext cx="32918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508760" y="1188720"/>
            <a:ext cx="0" cy="475488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14600" y="2075688"/>
            <a:ext cx="36576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212080" y="2075688"/>
            <a:ext cx="41148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00600" y="1234440"/>
            <a:ext cx="0" cy="64008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4800600" y="1298448"/>
            <a:ext cx="480060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601200" y="1298448"/>
            <a:ext cx="0" cy="36576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508760" y="2487168"/>
            <a:ext cx="0" cy="256032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508760" y="2743200"/>
            <a:ext cx="8915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2400300" y="2743200"/>
            <a:ext cx="0" cy="18288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89420" y="2578608"/>
            <a:ext cx="0" cy="164592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2400300" y="2743200"/>
            <a:ext cx="438912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400300" y="2743200"/>
            <a:ext cx="0" cy="18288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2487168"/>
            <a:ext cx="0" cy="256032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2400300" y="2743200"/>
            <a:ext cx="720090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2400300" y="2743200"/>
            <a:ext cx="0" cy="18288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566160" y="3392424"/>
            <a:ext cx="45720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55080" y="3392424"/>
            <a:ext cx="45720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92440" y="3858768"/>
            <a:ext cx="0" cy="210312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714500" y="4069080"/>
            <a:ext cx="63779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714500" y="4069080"/>
            <a:ext cx="0" cy="27432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834640" y="4782312"/>
            <a:ext cx="27432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92040" y="4782312"/>
            <a:ext cx="36576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830568" y="4782312"/>
            <a:ext cx="393192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044184" y="5157216"/>
            <a:ext cx="0" cy="164592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920240" y="5321808"/>
            <a:ext cx="4123944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1920240" y="5321808"/>
            <a:ext cx="0" cy="18288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343900" y="5221224"/>
            <a:ext cx="0" cy="36576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8229600" y="5257800"/>
            <a:ext cx="11430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8229600" y="5257800"/>
            <a:ext cx="0" cy="155448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714500" y="5221224"/>
            <a:ext cx="0" cy="64008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1714500" y="5285232"/>
            <a:ext cx="2057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1920240" y="5285232"/>
            <a:ext cx="0" cy="219456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926080" y="5861304"/>
            <a:ext cx="73152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926080" y="5861304"/>
            <a:ext cx="342900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6355080" y="5413248"/>
            <a:ext cx="0" cy="448056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6355080" y="5413248"/>
            <a:ext cx="187452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217920" y="5861304"/>
            <a:ext cx="59436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646920" y="5824728"/>
            <a:ext cx="594360" cy="36576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411480" y="749808"/>
            <a:ext cx="914400" cy="420624"/>
          </a:xfrm>
          <a:prstGeom prst="roundRect">
            <a:avLst/>
          </a:prstGeom>
          <a:solidFill>
            <a:srgbClr val="EEF2F7"/>
          </a:solidFill>
          <a:ln w="15240">
            <a:solidFill>
              <a:srgbClr val="5765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开始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1600200" y="667512"/>
            <a:ext cx="1828800" cy="566928"/>
          </a:xfrm>
          <a:prstGeom prst="parallelogram">
            <a:avLst/>
          </a:prstGeom>
          <a:solidFill>
            <a:srgbClr val="EEF2F7"/>
          </a:solidFill>
          <a:ln w="15240">
            <a:solidFill>
              <a:srgbClr val="5765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输入参数 / JSON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无人机数、高度上限、建筑密度、带宽、干扰源数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3886200" y="667512"/>
            <a:ext cx="1828800" cy="566928"/>
          </a:xfrm>
          <a:prstGeom prst="rect">
            <a:avLst/>
          </a:prstGeom>
          <a:solidFill>
            <a:srgbClr val="DCEBFF"/>
          </a:solidFill>
          <a:ln w="15240">
            <a:solidFill>
              <a:srgbClr val="2A5C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实例化问题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DroneCommProblem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(UAV_GA.py)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502920" y="1664208"/>
            <a:ext cx="2011680" cy="822960"/>
          </a:xfrm>
          <a:prstGeom prst="rect">
            <a:avLst/>
          </a:prstGeom>
          <a:solidFill>
            <a:srgbClr val="DCEBFF"/>
          </a:solidFill>
          <a:ln w="15240">
            <a:solidFill>
              <a:srgbClr val="2A5C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 采样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run_ga_samples()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geatpy / SEGA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 ga_samples.npy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2880360" y="1572768"/>
            <a:ext cx="2331720" cy="1005840"/>
          </a:xfrm>
          <a:prstGeom prst="rect">
            <a:avLst/>
          </a:prstGeom>
          <a:solidFill>
            <a:srgbClr val="DFF4E6"/>
          </a:solidFill>
          <a:ln w="15240">
            <a:solidFill>
              <a:srgbClr val="2F7D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GAN 训练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scale_to_unit → MLP Generator / Discriminator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train_gan()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5623560" y="1572768"/>
            <a:ext cx="2331720" cy="1005840"/>
          </a:xfrm>
          <a:prstGeom prst="rect">
            <a:avLst/>
          </a:prstGeom>
          <a:solidFill>
            <a:srgbClr val="DFF4E6"/>
          </a:solidFill>
          <a:ln w="15240">
            <a:solidFill>
              <a:srgbClr val="2F7D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GAN 生成样本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 → Generator → scale_from_unit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postprocess_x() → gan_samples.npy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8366760" y="1664208"/>
            <a:ext cx="2468880" cy="822960"/>
          </a:xfrm>
          <a:prstGeom prst="rect">
            <a:avLst/>
          </a:prstGeom>
          <a:solidFill>
            <a:srgbClr val="FCE9D6"/>
          </a:solidFill>
          <a:ln w="15240">
            <a:solidFill>
              <a:srgbClr val="A85A1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随机基线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random_samples()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均匀采样 + 离散变量投影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1234440" y="2926080"/>
            <a:ext cx="2331720" cy="932688"/>
          </a:xfrm>
          <a:prstGeom prst="rect">
            <a:avLst/>
          </a:prstGeom>
          <a:solidFill>
            <a:srgbClr val="DCEBFF"/>
          </a:solidFill>
          <a:ln w="15240">
            <a:solidFill>
              <a:srgbClr val="2A5C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场景生成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generate_scenario()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解码染色体 → 无人机 / 建筑 / 站点 / 干扰源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4023360" y="2926080"/>
            <a:ext cx="2331720" cy="932688"/>
          </a:xfrm>
          <a:prstGeom prst="rect">
            <a:avLst/>
          </a:prstGeom>
          <a:solidFill>
            <a:srgbClr val="DCEBFF"/>
          </a:solidFill>
          <a:ln w="15240">
            <a:solidFill>
              <a:srgbClr val="2A5C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场景分析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analyze_scenario_metrics()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链路预算、SINR、速率、退化度汇总</a:t>
            </a:r>
            <a:endParaRPr lang="en-US" sz="1450" dirty="0"/>
          </a:p>
        </p:txBody>
      </p:sp>
      <p:sp>
        <p:nvSpPr>
          <p:cNvPr id="55" name="Text 53"/>
          <p:cNvSpPr/>
          <p:nvPr/>
        </p:nvSpPr>
        <p:spPr>
          <a:xfrm>
            <a:off x="6812280" y="2926080"/>
            <a:ext cx="2560320" cy="932688"/>
          </a:xfrm>
          <a:prstGeom prst="rect">
            <a:avLst/>
          </a:prstGeom>
          <a:solidFill>
            <a:srgbClr val="FCE9D6"/>
          </a:solidFill>
          <a:ln w="15240">
            <a:solidFill>
              <a:srgbClr val="A85A1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三组对比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 vs GAN vs Random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summarize_metrics() / diff_stats()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comparison_summary.json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594360" y="4343400"/>
            <a:ext cx="2240280" cy="877824"/>
          </a:xfrm>
          <a:prstGeom prst="rect">
            <a:avLst/>
          </a:prstGeom>
          <a:solidFill>
            <a:srgbClr val="FCE9D6"/>
          </a:solidFill>
          <a:ln w="15240">
            <a:solidFill>
              <a:srgbClr val="A85A1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 KPI 验证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evaluate_groups_from_samples()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outage / rate / EE / tail risk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3108960" y="4343400"/>
            <a:ext cx="1783080" cy="877824"/>
          </a:xfrm>
          <a:prstGeom prst="rect">
            <a:avLst/>
          </a:prstGeom>
          <a:solidFill>
            <a:srgbClr val="FCE9D6"/>
          </a:solidFill>
          <a:ln w="15240">
            <a:solidFill>
              <a:srgbClr val="A85A1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BLER_A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Monte Carlo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(bler_mc.py)</a:t>
            </a:r>
            <a:endParaRPr lang="en-US" sz="1450" dirty="0"/>
          </a:p>
        </p:txBody>
      </p:sp>
      <p:sp>
        <p:nvSpPr>
          <p:cNvPr id="58" name="Text 56"/>
          <p:cNvSpPr/>
          <p:nvPr/>
        </p:nvSpPr>
        <p:spPr>
          <a:xfrm>
            <a:off x="5257800" y="4407408"/>
            <a:ext cx="1572768" cy="749808"/>
          </a:xfrm>
          <a:prstGeom prst="diamond">
            <a:avLst/>
          </a:prstGeom>
          <a:solidFill>
            <a:srgbClr val="EEF2F7"/>
          </a:solidFill>
          <a:ln w="15240">
            <a:solidFill>
              <a:srgbClr val="5765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是否启用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BLER_B /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Sionna?</a:t>
            </a:r>
            <a:endParaRPr lang="en-US" sz="1450" dirty="0"/>
          </a:p>
        </p:txBody>
      </p:sp>
      <p:sp>
        <p:nvSpPr>
          <p:cNvPr id="59" name="Text 57"/>
          <p:cNvSpPr/>
          <p:nvPr/>
        </p:nvSpPr>
        <p:spPr>
          <a:xfrm>
            <a:off x="7223760" y="4343400"/>
            <a:ext cx="2240280" cy="877824"/>
          </a:xfrm>
          <a:prstGeom prst="rect">
            <a:avLst/>
          </a:prstGeom>
          <a:solidFill>
            <a:srgbClr val="FCE9D6"/>
          </a:solidFill>
          <a:ln w="15240">
            <a:solidFill>
              <a:srgbClr val="A85A1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BLER_B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Sionna LUT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子进程调用 bler_sionna.py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914400" y="5504688"/>
            <a:ext cx="2011680" cy="713232"/>
          </a:xfrm>
          <a:prstGeom prst="diamond">
            <a:avLst/>
          </a:prstGeom>
          <a:solidFill>
            <a:srgbClr val="EEF2F7"/>
          </a:solidFill>
          <a:ln w="15240">
            <a:solidFill>
              <a:srgbClr val="5765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测量 ZIP 是否存在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且未跳过?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3657600" y="5413248"/>
            <a:ext cx="2560320" cy="896112"/>
          </a:xfrm>
          <a:prstGeom prst="rect">
            <a:avLst/>
          </a:prstGeom>
          <a:solidFill>
            <a:srgbClr val="E8DDF8"/>
          </a:solidFill>
          <a:ln w="15240">
            <a:solidFill>
              <a:srgbClr val="6E4A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外场角落案例对照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compare_measured_cornercases.py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AERPAW + Dryad</a:t>
            </a:r>
            <a:endParaRPr lang="en-US" sz="1450" dirty="0"/>
          </a:p>
        </p:txBody>
      </p:sp>
      <p:sp>
        <p:nvSpPr>
          <p:cNvPr id="62" name="Text 60"/>
          <p:cNvSpPr/>
          <p:nvPr/>
        </p:nvSpPr>
        <p:spPr>
          <a:xfrm>
            <a:off x="6812280" y="5413248"/>
            <a:ext cx="2834640" cy="896112"/>
          </a:xfrm>
          <a:prstGeom prst="rect">
            <a:avLst/>
          </a:prstGeom>
          <a:solidFill>
            <a:srgbClr val="E8DDF8"/>
          </a:solidFill>
          <a:ln w="15240">
            <a:solidFill>
              <a:srgbClr val="6E4A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可视化与输出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JSON / CSV / PNG / 场景图 / KPI 图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output/&lt;run_id&gt;/compare/</a:t>
            </a:r>
            <a:endParaRPr lang="en-US" sz="1450" dirty="0"/>
          </a:p>
        </p:txBody>
      </p:sp>
      <p:sp>
        <p:nvSpPr>
          <p:cNvPr id="63" name="Text 61"/>
          <p:cNvSpPr/>
          <p:nvPr/>
        </p:nvSpPr>
        <p:spPr>
          <a:xfrm>
            <a:off x="10241280" y="5596128"/>
            <a:ext cx="1097280" cy="457200"/>
          </a:xfrm>
          <a:prstGeom prst="roundRect">
            <a:avLst/>
          </a:prstGeom>
          <a:solidFill>
            <a:srgbClr val="EEF2F7"/>
          </a:solidFill>
          <a:ln w="15240">
            <a:solidFill>
              <a:srgbClr val="5765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结束</a:t>
            </a:r>
            <a:endParaRPr lang="en-US" sz="1450" dirty="0"/>
          </a:p>
        </p:txBody>
      </p:sp>
      <p:sp>
        <p:nvSpPr>
          <p:cNvPr id="64" name="Text 62"/>
          <p:cNvSpPr/>
          <p:nvPr/>
        </p:nvSpPr>
        <p:spPr>
          <a:xfrm>
            <a:off x="320040" y="6620256"/>
            <a:ext cx="111556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6E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主入口：compare_random_ga_gan.py；快速演示入口：quick_demo_pipeline.py；此页仅展示工程主控流程。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11338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场景生成与通信劣化建模：细化流程框图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1155680" cy="0"/>
          </a:xfrm>
          <a:prstGeom prst="line">
            <a:avLst/>
          </a:prstGeom>
          <a:noFill/>
          <a:ln w="19050">
            <a:solidFill>
              <a:srgbClr val="C8D2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1005840"/>
            <a:ext cx="27432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063240" y="1280160"/>
            <a:ext cx="0" cy="292608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554480" y="1572768"/>
            <a:ext cx="150876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554480" y="1572768"/>
            <a:ext cx="0" cy="210312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63240" y="1280160"/>
            <a:ext cx="0" cy="292608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063240" y="1572768"/>
            <a:ext cx="8915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954780" y="1572768"/>
            <a:ext cx="0" cy="210312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63240" y="1280160"/>
            <a:ext cx="0" cy="292608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063240" y="1572768"/>
            <a:ext cx="320040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263640" y="1572768"/>
            <a:ext cx="0" cy="210312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63240" y="1280160"/>
            <a:ext cx="0" cy="292608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063240" y="1572768"/>
            <a:ext cx="651510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578340" y="1572768"/>
            <a:ext cx="0" cy="14630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554480" y="2651760"/>
            <a:ext cx="0" cy="13716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280160" y="2788920"/>
            <a:ext cx="27432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280160" y="2788920"/>
            <a:ext cx="0" cy="27432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954780" y="2651760"/>
            <a:ext cx="0" cy="109728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3497580" y="2761488"/>
            <a:ext cx="45720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497580" y="2761488"/>
            <a:ext cx="0" cy="23774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2651760"/>
            <a:ext cx="0" cy="109728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5737860" y="2761488"/>
            <a:ext cx="52578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5737860" y="2761488"/>
            <a:ext cx="0" cy="23774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578340" y="2706624"/>
            <a:ext cx="0" cy="5486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578340" y="2761488"/>
            <a:ext cx="57150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0149840" y="2761488"/>
            <a:ext cx="0" cy="23774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103120" y="3392424"/>
            <a:ext cx="36576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26280" y="3392424"/>
            <a:ext cx="27432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0" y="3392424"/>
            <a:ext cx="27432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778240" y="3392424"/>
            <a:ext cx="36576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149840" y="3785616"/>
            <a:ext cx="0" cy="37490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805940" y="4160520"/>
            <a:ext cx="834390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805940" y="4160520"/>
            <a:ext cx="0" cy="210312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149840" y="3785616"/>
            <a:ext cx="0" cy="37490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4411980" y="4160520"/>
            <a:ext cx="573786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411980" y="4160520"/>
            <a:ext cx="0" cy="210312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971800" y="4809744"/>
            <a:ext cx="36576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86400" y="4809744"/>
            <a:ext cx="3200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635240" y="4809744"/>
            <a:ext cx="3200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326880" y="5248656"/>
            <a:ext cx="0" cy="19202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2011680" y="5440680"/>
            <a:ext cx="731520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2011680" y="5440680"/>
            <a:ext cx="0" cy="210312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554480" y="2651760"/>
            <a:ext cx="0" cy="278892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1554480" y="5440680"/>
            <a:ext cx="331470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4869180" y="5440680"/>
            <a:ext cx="0" cy="210312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200400" y="6071616"/>
            <a:ext cx="50292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035040" y="6071616"/>
            <a:ext cx="50292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961120" y="6071616"/>
            <a:ext cx="41148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411480" y="749808"/>
            <a:ext cx="1463040" cy="512064"/>
          </a:xfrm>
          <a:prstGeom prst="parallelogram">
            <a:avLst/>
          </a:prstGeom>
          <a:solidFill>
            <a:srgbClr val="EEF2F7"/>
          </a:solidFill>
          <a:ln w="15240">
            <a:solidFill>
              <a:srgbClr val="5765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染色体 / 样本向量 x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高度、速度、XY、干扰类型、功率、位置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2148840" y="731520"/>
            <a:ext cx="1828800" cy="548640"/>
          </a:xfrm>
          <a:prstGeom prst="rect">
            <a:avLst/>
          </a:prstGeom>
          <a:solidFill>
            <a:srgbClr val="DCEBFF"/>
          </a:solidFill>
          <a:ln w="15240">
            <a:solidFill>
              <a:srgbClr val="2A5C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解码变量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连续变量裁剪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离散类型/位置取整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502920" y="1783080"/>
            <a:ext cx="2103120" cy="868680"/>
          </a:xfrm>
          <a:prstGeom prst="rect">
            <a:avLst/>
          </a:prstGeom>
          <a:solidFill>
            <a:srgbClr val="DCEBFF"/>
          </a:solidFill>
          <a:ln w="15240">
            <a:solidFill>
              <a:srgbClr val="2A5C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无人机状态生成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高度 + 速度 + 平面位置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必要时投影到建筑外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2880360" y="1783080"/>
            <a:ext cx="2148840" cy="868680"/>
          </a:xfrm>
          <a:prstGeom prst="rect">
            <a:avLst/>
          </a:prstGeom>
          <a:solidFill>
            <a:srgbClr val="DFF4E6"/>
          </a:solidFill>
          <a:ln w="15240">
            <a:solidFill>
              <a:srgbClr val="2F7D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建筑环境生成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面积、密度、楼高上限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ITU α / β / γ 与遮挡地图</a:t>
            </a:r>
            <a:endParaRPr lang="en-US" sz="1450" dirty="0"/>
          </a:p>
        </p:txBody>
      </p:sp>
      <p:sp>
        <p:nvSpPr>
          <p:cNvPr id="55" name="Text 53"/>
          <p:cNvSpPr/>
          <p:nvPr/>
        </p:nvSpPr>
        <p:spPr>
          <a:xfrm>
            <a:off x="5303520" y="1783080"/>
            <a:ext cx="1920240" cy="868680"/>
          </a:xfrm>
          <a:prstGeom prst="rect">
            <a:avLst/>
          </a:prstGeom>
          <a:solidFill>
            <a:srgbClr val="DCEBFF"/>
          </a:solidFill>
          <a:ln w="15240">
            <a:solidFill>
              <a:srgbClr val="2A5C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地面站生成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站点位置 / 高度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通信频点与带宽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7498080" y="1719072"/>
            <a:ext cx="4160520" cy="987552"/>
          </a:xfrm>
          <a:prstGeom prst="rect">
            <a:avLst/>
          </a:prstGeom>
          <a:solidFill>
            <a:srgbClr val="E8DDF8"/>
          </a:solidFill>
          <a:ln w="15240">
            <a:solidFill>
              <a:srgbClr val="6E4A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干扰源建模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类型映射(2.4G/5.8G/4G/5G/GNSS/工业/卫星/UE上行)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功率、频率、高度语义、占空比、热点位置、空中干扰机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457200" y="3063240"/>
            <a:ext cx="1645920" cy="658368"/>
          </a:xfrm>
          <a:prstGeom prst="roundRect">
            <a:avLst/>
          </a:prstGeom>
          <a:solidFill>
            <a:srgbClr val="EEF2F7"/>
          </a:solidFill>
          <a:ln w="15240">
            <a:solidFill>
              <a:srgbClr val="5765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对每条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无人机–站点链路循环</a:t>
            </a:r>
            <a:endParaRPr lang="en-US" sz="1450" dirty="0"/>
          </a:p>
        </p:txBody>
      </p:sp>
      <p:sp>
        <p:nvSpPr>
          <p:cNvPr id="58" name="Text 56"/>
          <p:cNvSpPr/>
          <p:nvPr/>
        </p:nvSpPr>
        <p:spPr>
          <a:xfrm>
            <a:off x="2468880" y="2999232"/>
            <a:ext cx="2057400" cy="786384"/>
          </a:xfrm>
          <a:prstGeom prst="rect">
            <a:avLst/>
          </a:prstGeom>
          <a:solidFill>
            <a:srgbClr val="DFF4E6"/>
          </a:solidFill>
          <a:ln w="15240">
            <a:solidFill>
              <a:srgbClr val="2F7D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LoS/NLoS 判断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建筑相交检测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可选 deterministic_if_map</a:t>
            </a:r>
            <a:endParaRPr lang="en-US" sz="1450" dirty="0"/>
          </a:p>
        </p:txBody>
      </p:sp>
      <p:sp>
        <p:nvSpPr>
          <p:cNvPr id="59" name="Text 57"/>
          <p:cNvSpPr/>
          <p:nvPr/>
        </p:nvSpPr>
        <p:spPr>
          <a:xfrm>
            <a:off x="4800600" y="2999232"/>
            <a:ext cx="1874520" cy="786384"/>
          </a:xfrm>
          <a:prstGeom prst="rect">
            <a:avLst/>
          </a:prstGeom>
          <a:solidFill>
            <a:srgbClr val="DFF4E6"/>
          </a:solidFill>
          <a:ln w="15240">
            <a:solidFill>
              <a:srgbClr val="2F7D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路径损耗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calculate_path_loss()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频率、距离、额外损耗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6949440" y="2999232"/>
            <a:ext cx="1828800" cy="786384"/>
          </a:xfrm>
          <a:prstGeom prst="rect">
            <a:avLst/>
          </a:prstGeom>
          <a:solidFill>
            <a:srgbClr val="DCEBFF"/>
          </a:solidFill>
          <a:ln w="15240">
            <a:solidFill>
              <a:srgbClr val="2A5C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接收功率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P_rx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通信链路预算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9144000" y="2999232"/>
            <a:ext cx="2011680" cy="786384"/>
          </a:xfrm>
          <a:prstGeom prst="diamond">
            <a:avLst/>
          </a:prstGeom>
          <a:solidFill>
            <a:srgbClr val="EEF2F7"/>
          </a:solidFill>
          <a:ln w="15240">
            <a:solidFill>
              <a:srgbClr val="5765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是否启用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Zeng 风格 SINR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空中干扰项?</a:t>
            </a:r>
            <a:endParaRPr lang="en-US" sz="1450" dirty="0"/>
          </a:p>
        </p:txBody>
      </p:sp>
      <p:sp>
        <p:nvSpPr>
          <p:cNvPr id="62" name="Text 60"/>
          <p:cNvSpPr/>
          <p:nvPr/>
        </p:nvSpPr>
        <p:spPr>
          <a:xfrm>
            <a:off x="640080" y="4370832"/>
            <a:ext cx="2331720" cy="877824"/>
          </a:xfrm>
          <a:prstGeom prst="rect">
            <a:avLst/>
          </a:prstGeom>
          <a:solidFill>
            <a:srgbClr val="E8DDF8"/>
          </a:solidFill>
          <a:ln w="15240">
            <a:solidFill>
              <a:srgbClr val="6E4A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地面干扰功率汇聚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calculate_interference_power_mw()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多类发射机 + 频谱耦合</a:t>
            </a:r>
            <a:endParaRPr lang="en-US" sz="1450" dirty="0"/>
          </a:p>
        </p:txBody>
      </p:sp>
      <p:sp>
        <p:nvSpPr>
          <p:cNvPr id="63" name="Text 61"/>
          <p:cNvSpPr/>
          <p:nvPr/>
        </p:nvSpPr>
        <p:spPr>
          <a:xfrm>
            <a:off x="3337560" y="4370832"/>
            <a:ext cx="2148840" cy="877824"/>
          </a:xfrm>
          <a:prstGeom prst="rect">
            <a:avLst/>
          </a:prstGeom>
          <a:solidFill>
            <a:srgbClr val="E8DDF8"/>
          </a:solidFill>
          <a:ln w="15240">
            <a:solidFill>
              <a:srgbClr val="6E4A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可选空中干扰功率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calculate_aerial_interference_power_mw()</a:t>
            </a:r>
            <a:endParaRPr lang="en-US" sz="1450" dirty="0"/>
          </a:p>
        </p:txBody>
      </p:sp>
      <p:sp>
        <p:nvSpPr>
          <p:cNvPr id="64" name="Text 62"/>
          <p:cNvSpPr/>
          <p:nvPr/>
        </p:nvSpPr>
        <p:spPr>
          <a:xfrm>
            <a:off x="5806440" y="4370832"/>
            <a:ext cx="1828800" cy="877824"/>
          </a:xfrm>
          <a:prstGeom prst="rect">
            <a:avLst/>
          </a:prstGeom>
          <a:solidFill>
            <a:srgbClr val="EEF2F7"/>
          </a:solidFill>
          <a:ln w="15240">
            <a:solidFill>
              <a:srgbClr val="5765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噪声功率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热噪声 + 噪声系数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N_y</a:t>
            </a:r>
            <a:endParaRPr lang="en-US" sz="1450" dirty="0"/>
          </a:p>
        </p:txBody>
      </p:sp>
      <p:sp>
        <p:nvSpPr>
          <p:cNvPr id="65" name="Text 63"/>
          <p:cNvSpPr/>
          <p:nvPr/>
        </p:nvSpPr>
        <p:spPr>
          <a:xfrm>
            <a:off x="7955280" y="4370832"/>
            <a:ext cx="2743200" cy="877824"/>
          </a:xfrm>
          <a:prstGeom prst="rect">
            <a:avLst/>
          </a:prstGeom>
          <a:solidFill>
            <a:srgbClr val="FCE9D6"/>
          </a:solidFill>
          <a:ln w="15240">
            <a:solidFill>
              <a:srgbClr val="A85A1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功率裕量与链路指标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P_IN = I + N，M = P_rx - P_IN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SINR、速率、Outage</a:t>
            </a:r>
            <a:endParaRPr lang="en-US" sz="1450" dirty="0"/>
          </a:p>
        </p:txBody>
      </p:sp>
      <p:sp>
        <p:nvSpPr>
          <p:cNvPr id="66" name="Text 64"/>
          <p:cNvSpPr/>
          <p:nvPr/>
        </p:nvSpPr>
        <p:spPr>
          <a:xfrm>
            <a:off x="822960" y="5650992"/>
            <a:ext cx="2377440" cy="841248"/>
          </a:xfrm>
          <a:prstGeom prst="rect">
            <a:avLst/>
          </a:prstGeom>
          <a:solidFill>
            <a:srgbClr val="FCE9D6"/>
          </a:solidFill>
          <a:ln w="15240">
            <a:solidFill>
              <a:srgbClr val="A85A1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通信劣化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D_comm = sigmoid(M_db)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阈值 + 斜率参数</a:t>
            </a:r>
            <a:endParaRPr lang="en-US" sz="1450" dirty="0"/>
          </a:p>
        </p:txBody>
      </p:sp>
      <p:sp>
        <p:nvSpPr>
          <p:cNvPr id="67" name="Text 65"/>
          <p:cNvSpPr/>
          <p:nvPr/>
        </p:nvSpPr>
        <p:spPr>
          <a:xfrm>
            <a:off x="3703320" y="5650992"/>
            <a:ext cx="2331720" cy="841248"/>
          </a:xfrm>
          <a:prstGeom prst="rect">
            <a:avLst/>
          </a:prstGeom>
          <a:solidFill>
            <a:srgbClr val="FCE9D6"/>
          </a:solidFill>
          <a:ln w="15240">
            <a:solidFill>
              <a:srgbClr val="A85A1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速度/能效劣化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旋翼功耗模型 P(V)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calculate_speed_energy_efficiency_degradation()</a:t>
            </a:r>
            <a:endParaRPr lang="en-US" sz="1450" dirty="0"/>
          </a:p>
        </p:txBody>
      </p:sp>
      <p:sp>
        <p:nvSpPr>
          <p:cNvPr id="68" name="Text 66"/>
          <p:cNvSpPr/>
          <p:nvPr/>
        </p:nvSpPr>
        <p:spPr>
          <a:xfrm>
            <a:off x="6537960" y="5650992"/>
            <a:ext cx="2423160" cy="841248"/>
          </a:xfrm>
          <a:prstGeom prst="rect">
            <a:avLst/>
          </a:prstGeom>
          <a:solidFill>
            <a:srgbClr val="FCE9D6"/>
          </a:solidFill>
          <a:ln w="15240">
            <a:solidFill>
              <a:srgbClr val="A85A1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综合劣化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D_total = w1·D_comm + w2·D_speed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calculate_link_degradation()</a:t>
            </a:r>
            <a:endParaRPr lang="en-US" sz="1450" dirty="0"/>
          </a:p>
        </p:txBody>
      </p:sp>
      <p:sp>
        <p:nvSpPr>
          <p:cNvPr id="69" name="Text 67"/>
          <p:cNvSpPr/>
          <p:nvPr/>
        </p:nvSpPr>
        <p:spPr>
          <a:xfrm>
            <a:off x="9372600" y="5650992"/>
            <a:ext cx="2377440" cy="841248"/>
          </a:xfrm>
          <a:prstGeom prst="rect">
            <a:avLst/>
          </a:prstGeom>
          <a:solidFill>
            <a:srgbClr val="DCEBFF"/>
          </a:solidFill>
          <a:ln w="15240">
            <a:solidFill>
              <a:srgbClr val="2A5C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场景级汇总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avg_total_deg / avg_margin_db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outage_prob / avg_rate_mbps 等</a:t>
            </a:r>
            <a:endParaRPr lang="en-US" sz="1450" dirty="0"/>
          </a:p>
        </p:txBody>
      </p:sp>
      <p:sp>
        <p:nvSpPr>
          <p:cNvPr id="70" name="Text 68"/>
          <p:cNvSpPr/>
          <p:nvPr/>
        </p:nvSpPr>
        <p:spPr>
          <a:xfrm>
            <a:off x="320040" y="6620256"/>
            <a:ext cx="111556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6E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核心代码位置：UAV_GA.py；此页对应 generate_scenario()、calculate_power_margin_components()、calculate_comm_degradation()、calculate_link_degradation()、analyze_scenario_metrics()。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11338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评估、BLER 计算与外场数据验证：细化流程框图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1155680" cy="0"/>
          </a:xfrm>
          <a:prstGeom prst="line">
            <a:avLst/>
          </a:prstGeom>
          <a:noFill/>
          <a:ln w="19050">
            <a:solidFill>
              <a:srgbClr val="C8D2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71800" y="1033272"/>
            <a:ext cx="27432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532120" y="1033272"/>
            <a:ext cx="3200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412480" y="1033272"/>
            <a:ext cx="36576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32320" y="1335024"/>
            <a:ext cx="0" cy="23774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714500" y="1572768"/>
            <a:ext cx="541782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714500" y="1572768"/>
            <a:ext cx="0" cy="256032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32320" y="1335024"/>
            <a:ext cx="0" cy="23774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411980" y="1572768"/>
            <a:ext cx="27203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4411980" y="1572768"/>
            <a:ext cx="0" cy="256032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32320" y="1335024"/>
            <a:ext cx="0" cy="23774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926580" y="1572768"/>
            <a:ext cx="2057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926580" y="1572768"/>
            <a:ext cx="0" cy="256032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09560" y="2258568"/>
            <a:ext cx="365760" cy="914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012680" y="2258568"/>
            <a:ext cx="365760" cy="914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0" y="2633472"/>
            <a:ext cx="0" cy="27432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577840" y="2907792"/>
            <a:ext cx="356616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577840" y="2907792"/>
            <a:ext cx="0" cy="246888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025128" y="2651760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765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否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714500" y="2688336"/>
            <a:ext cx="0" cy="19202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714500" y="2880360"/>
            <a:ext cx="6629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2377440" y="2880360"/>
            <a:ext cx="0" cy="27432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411980" y="2688336"/>
            <a:ext cx="0" cy="19202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4411980" y="2880360"/>
            <a:ext cx="116586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577840" y="2880360"/>
            <a:ext cx="0" cy="27432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26580" y="2688336"/>
            <a:ext cx="0" cy="19202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5577840" y="2880360"/>
            <a:ext cx="13487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5577840" y="2880360"/>
            <a:ext cx="0" cy="27432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1041380" y="2688336"/>
            <a:ext cx="0" cy="192024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5577840" y="2880360"/>
            <a:ext cx="54635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5577840" y="2880360"/>
            <a:ext cx="0" cy="27432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657600" y="3584448"/>
            <a:ext cx="45720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971800" y="4818888"/>
            <a:ext cx="27432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897880" y="4818888"/>
            <a:ext cx="3200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641080" y="4818888"/>
            <a:ext cx="3200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218420" y="5175504"/>
            <a:ext cx="0" cy="219456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2011680" y="5394960"/>
            <a:ext cx="82067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2011680" y="5394960"/>
            <a:ext cx="0" cy="18288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337560" y="5980176"/>
            <a:ext cx="41148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537960" y="5980176"/>
            <a:ext cx="41148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577840" y="4014216"/>
            <a:ext cx="0" cy="1271016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5143500" y="5285232"/>
            <a:ext cx="434340" cy="0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5143500" y="5285232"/>
            <a:ext cx="0" cy="292608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875520" y="5961888"/>
            <a:ext cx="411480" cy="18288"/>
          </a:xfrm>
          <a:prstGeom prst="line">
            <a:avLst/>
          </a:prstGeom>
          <a:noFill/>
          <a:ln w="15240">
            <a:solidFill>
              <a:srgbClr val="6B778D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411480" y="749808"/>
            <a:ext cx="2560320" cy="566928"/>
          </a:xfrm>
          <a:prstGeom prst="parallelogram">
            <a:avLst/>
          </a:prstGeom>
          <a:solidFill>
            <a:srgbClr val="EEF2F7"/>
          </a:solidFill>
          <a:ln w="15240">
            <a:solidFill>
              <a:srgbClr val="5765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输入样本组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 / GAN / Random 样本数组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3246120" y="731520"/>
            <a:ext cx="2286000" cy="603504"/>
          </a:xfrm>
          <a:prstGeom prst="rect">
            <a:avLst/>
          </a:prstGeom>
          <a:solidFill>
            <a:srgbClr val="DCEBFF"/>
          </a:solidFill>
          <a:ln w="15240">
            <a:solidFill>
              <a:srgbClr val="2A5C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逐样本生成场景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generate_scenario()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5852160" y="731520"/>
            <a:ext cx="2560320" cy="603504"/>
          </a:xfrm>
          <a:prstGeom prst="rect">
            <a:avLst/>
          </a:prstGeom>
          <a:solidFill>
            <a:srgbClr val="FCE9D6"/>
          </a:solidFill>
          <a:ln w="15240">
            <a:solidFill>
              <a:srgbClr val="A85A1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提取链路记录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extract_link_records()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SINR / rate / p_prop / EE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8778240" y="749808"/>
            <a:ext cx="2331720" cy="566928"/>
          </a:xfrm>
          <a:prstGeom prst="parallelogram">
            <a:avLst/>
          </a:prstGeom>
          <a:solidFill>
            <a:srgbClr val="EEF2F7"/>
          </a:solidFill>
          <a:ln w="15240">
            <a:solidFill>
              <a:srgbClr val="5765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link_records.csv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按组保存链路样本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548640" y="1828800"/>
            <a:ext cx="2331720" cy="859536"/>
          </a:xfrm>
          <a:prstGeom prst="rect">
            <a:avLst/>
          </a:prstGeom>
          <a:solidFill>
            <a:srgbClr val="FCE9D6"/>
          </a:solidFill>
          <a:ln w="15240">
            <a:solidFill>
              <a:srgbClr val="A85A1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 KPI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compute_kpis()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分位数、tail mean、outage@阈值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3246120" y="1828800"/>
            <a:ext cx="2331720" cy="859536"/>
          </a:xfrm>
          <a:prstGeom prst="rect">
            <a:avLst/>
          </a:prstGeom>
          <a:solidFill>
            <a:srgbClr val="FCE9D6"/>
          </a:solidFill>
          <a:ln w="15240">
            <a:solidFill>
              <a:srgbClr val="A85A1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吞吐 KPI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compute_throughput_kpis()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 BLER 与速率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5943600" y="1828800"/>
            <a:ext cx="1965960" cy="859536"/>
          </a:xfrm>
          <a:prstGeom prst="rect">
            <a:avLst/>
          </a:prstGeom>
          <a:solidFill>
            <a:srgbClr val="FCE9D6"/>
          </a:solidFill>
          <a:ln w="15240">
            <a:solidFill>
              <a:srgbClr val="A85A1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BLER_A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simulate_bler_curve()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AWGN Monte Carlo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8275320" y="1901952"/>
            <a:ext cx="1737360" cy="731520"/>
          </a:xfrm>
          <a:prstGeom prst="diamond">
            <a:avLst/>
          </a:prstGeom>
          <a:solidFill>
            <a:srgbClr val="EEF2F7"/>
          </a:solidFill>
          <a:ln w="15240">
            <a:solidFill>
              <a:srgbClr val="5765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是否提供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sionna_python?</a:t>
            </a:r>
            <a:endParaRPr lang="en-US" sz="1450" dirty="0"/>
          </a:p>
        </p:txBody>
      </p:sp>
      <p:sp>
        <p:nvSpPr>
          <p:cNvPr id="55" name="Text 53"/>
          <p:cNvSpPr/>
          <p:nvPr/>
        </p:nvSpPr>
        <p:spPr>
          <a:xfrm>
            <a:off x="10378440" y="1828800"/>
            <a:ext cx="1325880" cy="859536"/>
          </a:xfrm>
          <a:prstGeom prst="rect">
            <a:avLst/>
          </a:prstGeom>
          <a:solidFill>
            <a:srgbClr val="FCE9D6"/>
          </a:solidFill>
          <a:ln w="15240">
            <a:solidFill>
              <a:srgbClr val="A85A1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3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BLER_B</a:t>
            </a:r>
            <a:endParaRPr lang="en-US" sz="13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3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Sionna</a:t>
            </a:r>
            <a:endParaRPr lang="en-US" sz="13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3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子进程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097280" y="3154680"/>
            <a:ext cx="2560320" cy="859536"/>
          </a:xfrm>
          <a:prstGeom prst="rect">
            <a:avLst/>
          </a:prstGeom>
          <a:solidFill>
            <a:srgbClr val="FCE9D6"/>
          </a:solidFill>
          <a:ln w="15240">
            <a:solidFill>
              <a:srgbClr val="A85A1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可视化 KPI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plot_kpi_comparison()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BLER / 吞吐 / outage 曲线图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4114800" y="3154680"/>
            <a:ext cx="2926080" cy="859536"/>
          </a:xfrm>
          <a:prstGeom prst="rect">
            <a:avLst/>
          </a:prstGeom>
          <a:solidFill>
            <a:srgbClr val="FCE9D6"/>
          </a:solidFill>
          <a:ln w="15240">
            <a:solidFill>
              <a:srgbClr val="A85A1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输出评估结果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kpi_summary.json / bler_a.csv / bler_b.csv / throughput_summary.json</a:t>
            </a:r>
            <a:endParaRPr lang="en-US" sz="1450" dirty="0"/>
          </a:p>
        </p:txBody>
      </p:sp>
      <p:sp>
        <p:nvSpPr>
          <p:cNvPr id="58" name="Text 56"/>
          <p:cNvSpPr/>
          <p:nvPr/>
        </p:nvSpPr>
        <p:spPr>
          <a:xfrm>
            <a:off x="320040" y="4526280"/>
            <a:ext cx="2651760" cy="585216"/>
          </a:xfrm>
          <a:prstGeom prst="parallelogram">
            <a:avLst/>
          </a:prstGeom>
          <a:solidFill>
            <a:srgbClr val="EEF2F7"/>
          </a:solidFill>
          <a:ln w="15240">
            <a:solidFill>
              <a:srgbClr val="5765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外场数据 ZIP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AERPAW / Dryad</a:t>
            </a:r>
            <a:endParaRPr lang="en-US" sz="1450" dirty="0"/>
          </a:p>
        </p:txBody>
      </p:sp>
      <p:sp>
        <p:nvSpPr>
          <p:cNvPr id="59" name="Text 57"/>
          <p:cNvSpPr/>
          <p:nvPr/>
        </p:nvSpPr>
        <p:spPr>
          <a:xfrm>
            <a:off x="3246120" y="4462272"/>
            <a:ext cx="2651760" cy="713232"/>
          </a:xfrm>
          <a:prstGeom prst="rect">
            <a:avLst/>
          </a:prstGeom>
          <a:solidFill>
            <a:srgbClr val="E8DDF8"/>
          </a:solidFill>
          <a:ln w="15240">
            <a:solidFill>
              <a:srgbClr val="6E4A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读取与坐标化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CSV/嵌套 ZIP → 局部 XY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站点高度/方位/距离推断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6217920" y="4462272"/>
            <a:ext cx="2423160" cy="713232"/>
          </a:xfrm>
          <a:prstGeom prst="rect">
            <a:avLst/>
          </a:prstGeom>
          <a:solidFill>
            <a:srgbClr val="E8DDF8"/>
          </a:solidFill>
          <a:ln w="15240">
            <a:solidFill>
              <a:srgbClr val="6E4A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选择代表点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最差 / 中位 / 最优 measured points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保持最小空间间距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8961120" y="4462272"/>
            <a:ext cx="2514600" cy="713232"/>
          </a:xfrm>
          <a:prstGeom prst="rect">
            <a:avLst/>
          </a:prstGeom>
          <a:solidFill>
            <a:srgbClr val="E8DDF8"/>
          </a:solidFill>
          <a:ln w="15240">
            <a:solidFill>
              <a:srgbClr val="6E4A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构建对齐环境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EnvironmentBundle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热点、站点、平移修正</a:t>
            </a:r>
            <a:endParaRPr lang="en-US" sz="1450" dirty="0"/>
          </a:p>
        </p:txBody>
      </p:sp>
      <p:sp>
        <p:nvSpPr>
          <p:cNvPr id="62" name="Text 60"/>
          <p:cNvSpPr/>
          <p:nvPr/>
        </p:nvSpPr>
        <p:spPr>
          <a:xfrm>
            <a:off x="685800" y="5577840"/>
            <a:ext cx="2651760" cy="804672"/>
          </a:xfrm>
          <a:prstGeom prst="rect">
            <a:avLst/>
          </a:prstGeom>
          <a:solidFill>
            <a:srgbClr val="E8DDF8"/>
          </a:solidFill>
          <a:ln w="15240">
            <a:solidFill>
              <a:srgbClr val="6E4A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模型对照生成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轨迹点建模 / worst-top-k / 随机点 / 网格热图</a:t>
            </a:r>
            <a:endParaRPr lang="en-US" sz="1450" dirty="0"/>
          </a:p>
        </p:txBody>
      </p:sp>
      <p:sp>
        <p:nvSpPr>
          <p:cNvPr id="63" name="Text 61"/>
          <p:cNvSpPr/>
          <p:nvPr/>
        </p:nvSpPr>
        <p:spPr>
          <a:xfrm>
            <a:off x="3749040" y="5577840"/>
            <a:ext cx="2788920" cy="804672"/>
          </a:xfrm>
          <a:prstGeom prst="rect">
            <a:avLst/>
          </a:prstGeom>
          <a:solidFill>
            <a:srgbClr val="E8DDF8"/>
          </a:solidFill>
          <a:ln w="15240">
            <a:solidFill>
              <a:srgbClr val="6E4A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空间对照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measured vs modeled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SINR / throughput 热力图与角落案例</a:t>
            </a:r>
            <a:endParaRPr lang="en-US" sz="1450" dirty="0"/>
          </a:p>
        </p:txBody>
      </p:sp>
      <p:sp>
        <p:nvSpPr>
          <p:cNvPr id="64" name="Text 62"/>
          <p:cNvSpPr/>
          <p:nvPr/>
        </p:nvSpPr>
        <p:spPr>
          <a:xfrm>
            <a:off x="6949440" y="5577840"/>
            <a:ext cx="2926080" cy="804672"/>
          </a:xfrm>
          <a:prstGeom prst="rect">
            <a:avLst/>
          </a:prstGeom>
          <a:solidFill>
            <a:srgbClr val="E8DDF8"/>
          </a:solidFill>
          <a:ln w="15240">
            <a:solidFill>
              <a:srgbClr val="6E4AA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输出文件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selected_points_with_source.csv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trajectory_points_modeled.csv</a:t>
            </a:r>
            <a:endParaRPr lang="en-US" sz="1450" dirty="0"/>
          </a:p>
          <a:p>
            <a:pPr marL="0" indent="0" algn="ctr">
              <a:lnSpc>
                <a:spcPct val="103000"/>
              </a:lnSpc>
              <a:buNone/>
            </a:pPr>
            <a:r>
              <a:rPr lang="en-US" sz="1450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*_spatial_compare.png</a:t>
            </a:r>
            <a:endParaRPr lang="en-US" sz="1450" dirty="0"/>
          </a:p>
        </p:txBody>
      </p:sp>
      <p:sp>
        <p:nvSpPr>
          <p:cNvPr id="65" name="Text 63"/>
          <p:cNvSpPr/>
          <p:nvPr/>
        </p:nvSpPr>
        <p:spPr>
          <a:xfrm>
            <a:off x="10287000" y="5742432"/>
            <a:ext cx="1051560" cy="438912"/>
          </a:xfrm>
          <a:prstGeom prst="roundRect">
            <a:avLst/>
          </a:prstGeom>
          <a:solidFill>
            <a:srgbClr val="EEF2F7"/>
          </a:solidFill>
          <a:ln w="15240">
            <a:solidFill>
              <a:srgbClr val="57657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2230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</a:t>
            </a:r>
            <a:endParaRPr lang="en-US" sz="1450" dirty="0"/>
          </a:p>
        </p:txBody>
      </p:sp>
      <p:sp>
        <p:nvSpPr>
          <p:cNvPr id="66" name="Text 64"/>
          <p:cNvSpPr/>
          <p:nvPr/>
        </p:nvSpPr>
        <p:spPr>
          <a:xfrm>
            <a:off x="320040" y="6620256"/>
            <a:ext cx="111556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6E77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核心代码位置：evaluate.py、kpi.py、bler_mc.py、bler_sionna.py、compare_measured_cornercases.py。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2581</Words>
  <Application>WPS 演示</Application>
  <PresentationFormat>On-screen Show (16:9)</PresentationFormat>
  <Paragraphs>223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微软雅黑</vt:lpstr>
      <vt:lpstr>Arial Unicode MS</vt:lpstr>
      <vt:lpstr>等线</vt:lpstr>
      <vt:lpstr>Calibri</vt:lpstr>
      <vt:lpstr>MingLiU-ExtB</vt:lpstr>
      <vt:lpstr>Saturday Sans Regular</vt:lpstr>
      <vt:lpstr>Office Theme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仿真工程完整流程框图</dc:title>
  <dc:creator>OpenAI</dc:creator>
  <dc:subject>UAV GA-GAN simulation workflow flowchart</dc:subject>
  <cp:lastModifiedBy>52834</cp:lastModifiedBy>
  <cp:revision>2</cp:revision>
  <dcterms:created xsi:type="dcterms:W3CDTF">2026-03-22T05:37:00Z</dcterms:created>
  <dcterms:modified xsi:type="dcterms:W3CDTF">2026-03-22T15:14:59Z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778DE99C32E84020A2C1B6F7F62481C0_13</vt:lpwstr>
  </property>
  <property fmtid="{D5CDD505-2E9C-101B-9397-08002B2CF9AE}" pid="3" name="KSOProductBuildVer">
    <vt:lpwstr>2052-12.1.0.25222</vt:lpwstr>
  </property>
</Properties>
</file>